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x="18288000" cy="10287000"/>
  <p:notesSz cx="6858000" cy="9144000"/>
  <p:embeddedFontLst>
    <p:embeddedFont>
      <p:font typeface="League Spartan" charset="1" panose="00000800000000000000"/>
      <p:regular r:id="rId76"/>
    </p:embeddedFont>
    <p:embeddedFont>
      <p:font typeface="Roboto Bold" charset="1" panose="02000000000000000000"/>
      <p:regular r:id="rId77"/>
    </p:embeddedFont>
    <p:embeddedFont>
      <p:font typeface="Poppins" charset="1" panose="00000500000000000000"/>
      <p:regular r:id="rId78"/>
    </p:embeddedFont>
    <p:embeddedFont>
      <p:font typeface="Open Sauce Heavy" charset="1" panose="00000A00000000000000"/>
      <p:regular r:id="rId79"/>
    </p:embeddedFont>
    <p:embeddedFont>
      <p:font typeface="Open Sauce" charset="1" panose="00000500000000000000"/>
      <p:regular r:id="rId80"/>
    </p:embeddedFont>
    <p:embeddedFont>
      <p:font typeface="Roboto" charset="1" panose="02000000000000000000"/>
      <p:regular r:id="rId81"/>
    </p:embeddedFont>
    <p:embeddedFont>
      <p:font typeface="Open Sauce Light" charset="1" panose="00000400000000000000"/>
      <p:regular r:id="rId82"/>
    </p:embeddedFont>
    <p:embeddedFont>
      <p:font typeface="Open Sauce Bold" charset="1" panose="00000800000000000000"/>
      <p:regular r:id="rId83"/>
    </p:embeddedFont>
    <p:embeddedFont>
      <p:font typeface="Archivo Black" charset="1" panose="020B0A03020202020B04"/>
      <p:regular r:id="rId84"/>
    </p:embeddedFont>
    <p:embeddedFont>
      <p:font typeface="Proxima Nova Bold" charset="1" panose="02000506030000020004"/>
      <p:regular r:id="rId8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85" Target="fonts/font85.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pn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9.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24.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3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32.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33.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34.png" Type="http://schemas.openxmlformats.org/officeDocument/2006/relationships/image"/><Relationship Id="rId5" Target="../media/image36.png" Type="http://schemas.openxmlformats.org/officeDocument/2006/relationships/image"/><Relationship Id="rId6" Target="../media/image3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37.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38.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39.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40.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1.png" Type="http://schemas.openxmlformats.org/officeDocument/2006/relationships/image"/><Relationship Id="rId4" Target="https://app.powerbi.com/groups/me/reports/45550a04-5440-4a33-958b-a5af7b12c80a/425b7d6f31ce5923bc72?experience=power-bi" TargetMode="External" Type="http://schemas.openxmlformats.org/officeDocument/2006/relationships/hyperlink"/><Relationship Id="rId5" Target="../media/image12.png" Type="http://schemas.openxmlformats.org/officeDocument/2006/relationships/image"/><Relationship Id="rId6" Target="../media/image1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8.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5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5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5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https://logi-insight-360-4cpc.vercel.app" TargetMode="External" Type="http://schemas.openxmlformats.org/officeDocument/2006/relationships/hyperlink"/><Relationship Id="rId6" Target="../media/image12.png" Type="http://schemas.openxmlformats.org/officeDocument/2006/relationships/image"/><Relationship Id="rId7" Target="../media/image13.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4.png" Type="http://schemas.openxmlformats.org/officeDocument/2006/relationships/image"/><Relationship Id="rId11" Target="../media/image85.png" Type="http://schemas.openxmlformats.org/officeDocument/2006/relationships/image"/><Relationship Id="rId2" Target="../media/image78.png" Type="http://schemas.openxmlformats.org/officeDocument/2006/relationships/image"/><Relationship Id="rId3" Target="../media/image79.png" Type="http://schemas.openxmlformats.org/officeDocument/2006/relationships/image"/><Relationship Id="rId4" Target="../media/image80.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81.png" Type="http://schemas.openxmlformats.org/officeDocument/2006/relationships/image"/><Relationship Id="rId8" Target="../media/image82.png" Type="http://schemas.openxmlformats.org/officeDocument/2006/relationships/image"/><Relationship Id="rId9" Target="../media/image83.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86.png" Type="http://schemas.openxmlformats.org/officeDocument/2006/relationships/image"/><Relationship Id="rId6" Target="../media/image87.png" Type="http://schemas.openxmlformats.org/officeDocument/2006/relationships/image"/><Relationship Id="rId7" Target="../media/image88.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jpeg" Type="http://schemas.openxmlformats.org/officeDocument/2006/relationships/image"/><Relationship Id="rId3" Target="../media/image90.png" Type="http://schemas.openxmlformats.org/officeDocument/2006/relationships/image"/><Relationship Id="rId4" Target="../media/image91.svg" Type="http://schemas.openxmlformats.org/officeDocument/2006/relationships/image"/><Relationship Id="rId5" Target="https://logi-insight-360-4cpc.vercel.app" TargetMode="External" Type="http://schemas.openxmlformats.org/officeDocument/2006/relationships/hyperlink"/></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220957" y="4506120"/>
            <a:ext cx="9846085" cy="1418823"/>
          </a:xfrm>
          <a:prstGeom prst="rect">
            <a:avLst/>
          </a:prstGeom>
        </p:spPr>
        <p:txBody>
          <a:bodyPr anchor="t" rtlCol="false" tIns="0" lIns="0" bIns="0" rIns="0">
            <a:spAutoFit/>
          </a:bodyPr>
          <a:lstStyle/>
          <a:p>
            <a:pPr algn="ctr">
              <a:lnSpc>
                <a:spcPts val="11572"/>
              </a:lnSpc>
            </a:pPr>
            <a:r>
              <a:rPr lang="en-US" b="true" sz="8265">
                <a:solidFill>
                  <a:srgbClr val="004AAD"/>
                </a:solidFill>
                <a:latin typeface="League Spartan"/>
                <a:ea typeface="League Spartan"/>
                <a:cs typeface="League Spartan"/>
                <a:sym typeface="League Spartan"/>
              </a:rPr>
              <a:t>LOGIINSIGHT 360</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6323004" y="3528848"/>
            <a:ext cx="5641992" cy="913044"/>
          </a:xfrm>
          <a:prstGeom prst="rect">
            <a:avLst/>
          </a:prstGeom>
        </p:spPr>
        <p:txBody>
          <a:bodyPr anchor="t" rtlCol="false" tIns="0" lIns="0" bIns="0" rIns="0">
            <a:spAutoFit/>
          </a:bodyPr>
          <a:lstStyle/>
          <a:p>
            <a:pPr algn="ctr">
              <a:lnSpc>
                <a:spcPts val="7424"/>
              </a:lnSpc>
            </a:pPr>
            <a:r>
              <a:rPr lang="en-US" b="true" sz="5303">
                <a:solidFill>
                  <a:srgbClr val="303642"/>
                </a:solidFill>
                <a:latin typeface="Roboto Bold"/>
                <a:ea typeface="Roboto Bold"/>
                <a:cs typeface="Roboto Bold"/>
                <a:sym typeface="Roboto Bold"/>
              </a:rPr>
              <a:t>PROJECT </a:t>
            </a:r>
          </a:p>
        </p:txBody>
      </p:sp>
      <p:sp>
        <p:nvSpPr>
          <p:cNvPr name="TextBox 8" id="8"/>
          <p:cNvSpPr txBox="true"/>
          <p:nvPr/>
        </p:nvSpPr>
        <p:spPr>
          <a:xfrm rot="0">
            <a:off x="4880587" y="5852404"/>
            <a:ext cx="8526827"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Smart Supply Chain &amp; Logistics Insights</a:t>
            </a:r>
          </a:p>
          <a:p>
            <a:pPr algn="ctr">
              <a:lnSpc>
                <a:spcPts val="3107"/>
              </a:lnSpc>
              <a:spcBef>
                <a:spcPct val="0"/>
              </a:spcBef>
            </a:pPr>
          </a:p>
        </p:txBody>
      </p:sp>
      <p:grpSp>
        <p:nvGrpSpPr>
          <p:cNvPr name="Group 9" id="9"/>
          <p:cNvGrpSpPr/>
          <p:nvPr/>
        </p:nvGrpSpPr>
        <p:grpSpPr>
          <a:xfrm rot="0">
            <a:off x="16467343" y="4057750"/>
            <a:ext cx="3086100" cy="2171499"/>
            <a:chOff x="0" y="0"/>
            <a:chExt cx="812800" cy="571917"/>
          </a:xfrm>
        </p:grpSpPr>
        <p:sp>
          <p:nvSpPr>
            <p:cNvPr name="Freeform 10" id="10"/>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1" id="11"/>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04F86"/>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343327" y="-1105585"/>
            <a:ext cx="12858845" cy="4933121"/>
          </a:xfrm>
          <a:custGeom>
            <a:avLst/>
            <a:gdLst/>
            <a:ahLst/>
            <a:cxnLst/>
            <a:rect r="r" b="b" t="t" l="l"/>
            <a:pathLst>
              <a:path h="4933121" w="12858845">
                <a:moveTo>
                  <a:pt x="0" y="0"/>
                </a:moveTo>
                <a:lnTo>
                  <a:pt x="12858845" y="0"/>
                </a:lnTo>
                <a:lnTo>
                  <a:pt x="12858845" y="4933121"/>
                </a:lnTo>
                <a:lnTo>
                  <a:pt x="0" y="4933121"/>
                </a:lnTo>
                <a:lnTo>
                  <a:pt x="0" y="0"/>
                </a:lnTo>
                <a:close/>
              </a:path>
            </a:pathLst>
          </a:custGeom>
          <a:blipFill>
            <a:blip r:embed="rId4">
              <a:alphaModFix amt="25000"/>
            </a:blip>
            <a:stretch>
              <a:fillRect l="0" t="0" r="0" b="0"/>
            </a:stretch>
          </a:blipFill>
        </p:spPr>
      </p:sp>
      <p:grpSp>
        <p:nvGrpSpPr>
          <p:cNvPr name="Group 4" id="4"/>
          <p:cNvGrpSpPr/>
          <p:nvPr/>
        </p:nvGrpSpPr>
        <p:grpSpPr>
          <a:xfrm rot="0">
            <a:off x="9144000" y="-1557819"/>
            <a:ext cx="8120948" cy="14062990"/>
            <a:chOff x="0" y="0"/>
            <a:chExt cx="2138850" cy="3703833"/>
          </a:xfrm>
        </p:grpSpPr>
        <p:sp>
          <p:nvSpPr>
            <p:cNvPr name="Freeform 5" id="5"/>
            <p:cNvSpPr/>
            <p:nvPr/>
          </p:nvSpPr>
          <p:spPr>
            <a:xfrm flipH="false" flipV="false" rot="0">
              <a:off x="0" y="0"/>
              <a:ext cx="2138850" cy="3703833"/>
            </a:xfrm>
            <a:custGeom>
              <a:avLst/>
              <a:gdLst/>
              <a:ahLst/>
              <a:cxnLst/>
              <a:rect r="r" b="b" t="t" l="l"/>
              <a:pathLst>
                <a:path h="3703833" w="2138850">
                  <a:moveTo>
                    <a:pt x="38133" y="0"/>
                  </a:moveTo>
                  <a:lnTo>
                    <a:pt x="2100717" y="0"/>
                  </a:lnTo>
                  <a:cubicBezTo>
                    <a:pt x="2110831" y="0"/>
                    <a:pt x="2120530" y="4018"/>
                    <a:pt x="2127682" y="11169"/>
                  </a:cubicBezTo>
                  <a:cubicBezTo>
                    <a:pt x="2134833" y="18320"/>
                    <a:pt x="2138850" y="28020"/>
                    <a:pt x="2138850" y="38133"/>
                  </a:cubicBezTo>
                  <a:lnTo>
                    <a:pt x="2138850" y="3665700"/>
                  </a:lnTo>
                  <a:cubicBezTo>
                    <a:pt x="2138850" y="3675813"/>
                    <a:pt x="2134833" y="3685513"/>
                    <a:pt x="2127682" y="3692664"/>
                  </a:cubicBezTo>
                  <a:cubicBezTo>
                    <a:pt x="2120530" y="3699815"/>
                    <a:pt x="2110831" y="3703833"/>
                    <a:pt x="2100717" y="3703833"/>
                  </a:cubicBezTo>
                  <a:lnTo>
                    <a:pt x="38133" y="3703833"/>
                  </a:lnTo>
                  <a:cubicBezTo>
                    <a:pt x="28020" y="3703833"/>
                    <a:pt x="18320" y="3699815"/>
                    <a:pt x="11169" y="3692664"/>
                  </a:cubicBezTo>
                  <a:cubicBezTo>
                    <a:pt x="4018" y="3685513"/>
                    <a:pt x="0" y="3675813"/>
                    <a:pt x="0" y="3665700"/>
                  </a:cubicBezTo>
                  <a:lnTo>
                    <a:pt x="0" y="38133"/>
                  </a:lnTo>
                  <a:cubicBezTo>
                    <a:pt x="0" y="28020"/>
                    <a:pt x="4018" y="18320"/>
                    <a:pt x="11169" y="11169"/>
                  </a:cubicBezTo>
                  <a:cubicBezTo>
                    <a:pt x="18320" y="4018"/>
                    <a:pt x="28020" y="0"/>
                    <a:pt x="38133" y="0"/>
                  </a:cubicBezTo>
                  <a:close/>
                </a:path>
              </a:pathLst>
            </a:custGeom>
            <a:solidFill>
              <a:srgbClr val="FFFFFF"/>
            </a:solidFill>
            <a:ln w="19050" cap="rnd">
              <a:solidFill>
                <a:srgbClr val="424242"/>
              </a:solidFill>
              <a:prstDash val="solid"/>
              <a:round/>
            </a:ln>
          </p:spPr>
        </p:sp>
        <p:sp>
          <p:nvSpPr>
            <p:cNvPr name="TextBox 6" id="6"/>
            <p:cNvSpPr txBox="true"/>
            <p:nvPr/>
          </p:nvSpPr>
          <p:spPr>
            <a:xfrm>
              <a:off x="0" y="-28575"/>
              <a:ext cx="2138850" cy="3732408"/>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028700" y="6518917"/>
            <a:ext cx="7628749" cy="3003061"/>
          </a:xfrm>
          <a:prstGeom prst="rect">
            <a:avLst/>
          </a:prstGeom>
        </p:spPr>
        <p:txBody>
          <a:bodyPr anchor="t" rtlCol="false" tIns="0" lIns="0" bIns="0" rIns="0">
            <a:spAutoFit/>
          </a:bodyPr>
          <a:lstStyle/>
          <a:p>
            <a:pPr algn="l">
              <a:lnSpc>
                <a:spcPts val="11464"/>
              </a:lnSpc>
            </a:pPr>
            <a:r>
              <a:rPr lang="en-US" sz="12196" spc="-573" b="true">
                <a:solidFill>
                  <a:srgbClr val="F1F3FA"/>
                </a:solidFill>
                <a:latin typeface="Open Sauce Heavy"/>
                <a:ea typeface="Open Sauce Heavy"/>
                <a:cs typeface="Open Sauce Heavy"/>
                <a:sym typeface="Open Sauce Heavy"/>
              </a:rPr>
              <a:t>Today’s Agenda</a:t>
            </a:r>
          </a:p>
        </p:txBody>
      </p:sp>
      <p:sp>
        <p:nvSpPr>
          <p:cNvPr name="TextBox 8" id="8"/>
          <p:cNvSpPr txBox="true"/>
          <p:nvPr/>
        </p:nvSpPr>
        <p:spPr>
          <a:xfrm rot="0">
            <a:off x="10214225" y="1674142"/>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01</a:t>
            </a:r>
          </a:p>
        </p:txBody>
      </p:sp>
      <p:sp>
        <p:nvSpPr>
          <p:cNvPr name="TextBox 9" id="9"/>
          <p:cNvSpPr txBox="true"/>
          <p:nvPr/>
        </p:nvSpPr>
        <p:spPr>
          <a:xfrm rot="0">
            <a:off x="10214225" y="2487936"/>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02</a:t>
            </a:r>
          </a:p>
        </p:txBody>
      </p:sp>
      <p:sp>
        <p:nvSpPr>
          <p:cNvPr name="TextBox 10" id="10"/>
          <p:cNvSpPr txBox="true"/>
          <p:nvPr/>
        </p:nvSpPr>
        <p:spPr>
          <a:xfrm rot="0">
            <a:off x="11409213" y="1674142"/>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Introduction</a:t>
            </a:r>
          </a:p>
        </p:txBody>
      </p:sp>
      <p:sp>
        <p:nvSpPr>
          <p:cNvPr name="TextBox 11" id="11"/>
          <p:cNvSpPr txBox="true"/>
          <p:nvPr/>
        </p:nvSpPr>
        <p:spPr>
          <a:xfrm rot="0">
            <a:off x="11409213" y="2487936"/>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Problem Statement</a:t>
            </a:r>
          </a:p>
        </p:txBody>
      </p:sp>
      <p:sp>
        <p:nvSpPr>
          <p:cNvPr name="TextBox 12" id="12"/>
          <p:cNvSpPr txBox="true"/>
          <p:nvPr/>
        </p:nvSpPr>
        <p:spPr>
          <a:xfrm rot="0">
            <a:off x="10214225" y="3301731"/>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03</a:t>
            </a:r>
          </a:p>
        </p:txBody>
      </p:sp>
      <p:sp>
        <p:nvSpPr>
          <p:cNvPr name="TextBox 13" id="13"/>
          <p:cNvSpPr txBox="true"/>
          <p:nvPr/>
        </p:nvSpPr>
        <p:spPr>
          <a:xfrm rot="0">
            <a:off x="11409213" y="3301731"/>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Proposed Solution</a:t>
            </a:r>
          </a:p>
        </p:txBody>
      </p:sp>
      <p:sp>
        <p:nvSpPr>
          <p:cNvPr name="TextBox 14" id="14"/>
          <p:cNvSpPr txBox="true"/>
          <p:nvPr/>
        </p:nvSpPr>
        <p:spPr>
          <a:xfrm rot="0">
            <a:off x="10214225" y="4115525"/>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04</a:t>
            </a:r>
          </a:p>
        </p:txBody>
      </p:sp>
      <p:sp>
        <p:nvSpPr>
          <p:cNvPr name="TextBox 15" id="15"/>
          <p:cNvSpPr txBox="true"/>
          <p:nvPr/>
        </p:nvSpPr>
        <p:spPr>
          <a:xfrm rot="0">
            <a:off x="11409213" y="4115525"/>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OLTP Databse </a:t>
            </a:r>
          </a:p>
        </p:txBody>
      </p:sp>
      <p:sp>
        <p:nvSpPr>
          <p:cNvPr name="TextBox 16" id="16"/>
          <p:cNvSpPr txBox="true"/>
          <p:nvPr/>
        </p:nvSpPr>
        <p:spPr>
          <a:xfrm rot="0">
            <a:off x="10214225" y="4929319"/>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05</a:t>
            </a:r>
          </a:p>
        </p:txBody>
      </p:sp>
      <p:sp>
        <p:nvSpPr>
          <p:cNvPr name="TextBox 17" id="17"/>
          <p:cNvSpPr txBox="true"/>
          <p:nvPr/>
        </p:nvSpPr>
        <p:spPr>
          <a:xfrm rot="0">
            <a:off x="11409213" y="4929319"/>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Datawarehouse</a:t>
            </a:r>
          </a:p>
        </p:txBody>
      </p:sp>
      <p:sp>
        <p:nvSpPr>
          <p:cNvPr name="TextBox 18" id="18"/>
          <p:cNvSpPr txBox="true"/>
          <p:nvPr/>
        </p:nvSpPr>
        <p:spPr>
          <a:xfrm rot="0">
            <a:off x="10214225" y="5743113"/>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06</a:t>
            </a:r>
          </a:p>
        </p:txBody>
      </p:sp>
      <p:sp>
        <p:nvSpPr>
          <p:cNvPr name="TextBox 19" id="19"/>
          <p:cNvSpPr txBox="true"/>
          <p:nvPr/>
        </p:nvSpPr>
        <p:spPr>
          <a:xfrm rot="0">
            <a:off x="11409213" y="5743113"/>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SSRS</a:t>
            </a:r>
          </a:p>
        </p:txBody>
      </p:sp>
      <p:sp>
        <p:nvSpPr>
          <p:cNvPr name="TextBox 20" id="20"/>
          <p:cNvSpPr txBox="true"/>
          <p:nvPr/>
        </p:nvSpPr>
        <p:spPr>
          <a:xfrm rot="0">
            <a:off x="10214225" y="6556908"/>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07</a:t>
            </a:r>
          </a:p>
        </p:txBody>
      </p:sp>
      <p:sp>
        <p:nvSpPr>
          <p:cNvPr name="TextBox 21" id="21"/>
          <p:cNvSpPr txBox="true"/>
          <p:nvPr/>
        </p:nvSpPr>
        <p:spPr>
          <a:xfrm rot="0">
            <a:off x="11409213" y="6556908"/>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Power BI Dashboards</a:t>
            </a:r>
          </a:p>
        </p:txBody>
      </p:sp>
      <p:sp>
        <p:nvSpPr>
          <p:cNvPr name="TextBox 22" id="22"/>
          <p:cNvSpPr txBox="true"/>
          <p:nvPr/>
        </p:nvSpPr>
        <p:spPr>
          <a:xfrm rot="0">
            <a:off x="10214225" y="7370702"/>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08</a:t>
            </a:r>
          </a:p>
        </p:txBody>
      </p:sp>
      <p:sp>
        <p:nvSpPr>
          <p:cNvPr name="TextBox 23" id="23"/>
          <p:cNvSpPr txBox="true"/>
          <p:nvPr/>
        </p:nvSpPr>
        <p:spPr>
          <a:xfrm rot="0">
            <a:off x="11409213" y="7370702"/>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Website</a:t>
            </a:r>
          </a:p>
        </p:txBody>
      </p:sp>
      <p:sp>
        <p:nvSpPr>
          <p:cNvPr name="TextBox 24" id="24"/>
          <p:cNvSpPr txBox="true"/>
          <p:nvPr/>
        </p:nvSpPr>
        <p:spPr>
          <a:xfrm rot="0">
            <a:off x="10214225" y="8184496"/>
            <a:ext cx="930834" cy="311150"/>
          </a:xfrm>
          <a:prstGeom prst="rect">
            <a:avLst/>
          </a:prstGeom>
        </p:spPr>
        <p:txBody>
          <a:bodyPr anchor="t" rtlCol="false" tIns="0" lIns="0" bIns="0" rIns="0">
            <a:spAutoFit/>
          </a:bodyPr>
          <a:lstStyle/>
          <a:p>
            <a:pPr algn="ctr">
              <a:lnSpc>
                <a:spcPts val="2350"/>
              </a:lnSpc>
            </a:pPr>
            <a:r>
              <a:rPr lang="en-US" b="true" sz="2500" spc="-117">
                <a:solidFill>
                  <a:srgbClr val="424242"/>
                </a:solidFill>
                <a:latin typeface="Open Sauce Heavy"/>
                <a:ea typeface="Open Sauce Heavy"/>
                <a:cs typeface="Open Sauce Heavy"/>
                <a:sym typeface="Open Sauce Heavy"/>
              </a:rPr>
              <a:t>09</a:t>
            </a:r>
          </a:p>
        </p:txBody>
      </p:sp>
      <p:sp>
        <p:nvSpPr>
          <p:cNvPr name="TextBox 25" id="25"/>
          <p:cNvSpPr txBox="true"/>
          <p:nvPr/>
        </p:nvSpPr>
        <p:spPr>
          <a:xfrm rot="0">
            <a:off x="11409213" y="8184496"/>
            <a:ext cx="5466983" cy="311150"/>
          </a:xfrm>
          <a:prstGeom prst="rect">
            <a:avLst/>
          </a:prstGeom>
        </p:spPr>
        <p:txBody>
          <a:bodyPr anchor="t" rtlCol="false" tIns="0" lIns="0" bIns="0" rIns="0">
            <a:spAutoFit/>
          </a:bodyPr>
          <a:lstStyle/>
          <a:p>
            <a:pPr algn="l">
              <a:lnSpc>
                <a:spcPts val="2350"/>
              </a:lnSpc>
            </a:pPr>
            <a:r>
              <a:rPr lang="en-US" sz="2500" spc="-117">
                <a:solidFill>
                  <a:srgbClr val="424242"/>
                </a:solidFill>
                <a:latin typeface="Open Sauce"/>
                <a:ea typeface="Open Sauce"/>
                <a:cs typeface="Open Sauce"/>
                <a:sym typeface="Open Sauce"/>
              </a:rPr>
              <a:t>Workflow&amp; AI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029094" y="2911162"/>
            <a:ext cx="2787388" cy="2787070"/>
            <a:chOff x="0" y="0"/>
            <a:chExt cx="6350013" cy="6349289"/>
          </a:xfrm>
        </p:grpSpPr>
        <p:sp>
          <p:nvSpPr>
            <p:cNvPr name="Freeform 4" id="4"/>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3"/>
              <a:stretch>
                <a:fillRect l="0" t="-5" r="0" b="-5"/>
              </a:stretch>
            </a:blipFill>
          </p:spPr>
        </p:sp>
      </p:grpSp>
      <p:grpSp>
        <p:nvGrpSpPr>
          <p:cNvPr name="Group 5" id="5"/>
          <p:cNvGrpSpPr>
            <a:grpSpLocks noChangeAspect="true"/>
          </p:cNvGrpSpPr>
          <p:nvPr/>
        </p:nvGrpSpPr>
        <p:grpSpPr>
          <a:xfrm rot="0">
            <a:off x="7750306" y="2911162"/>
            <a:ext cx="2787388" cy="2787070"/>
            <a:chOff x="0" y="0"/>
            <a:chExt cx="6350013" cy="6349289"/>
          </a:xfrm>
        </p:grpSpPr>
        <p:sp>
          <p:nvSpPr>
            <p:cNvPr name="Freeform 6" id="6"/>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4"/>
              <a:stretch>
                <a:fillRect l="0" t="-1802" r="-4851" b="-44347"/>
              </a:stretch>
            </a:blipFill>
          </p:spPr>
        </p:sp>
      </p:grpSp>
      <p:grpSp>
        <p:nvGrpSpPr>
          <p:cNvPr name="Group 7" id="7"/>
          <p:cNvGrpSpPr>
            <a:grpSpLocks noChangeAspect="true"/>
          </p:cNvGrpSpPr>
          <p:nvPr/>
        </p:nvGrpSpPr>
        <p:grpSpPr>
          <a:xfrm rot="0">
            <a:off x="14471519" y="2911162"/>
            <a:ext cx="2787388" cy="2787070"/>
            <a:chOff x="0" y="0"/>
            <a:chExt cx="6350013" cy="6349289"/>
          </a:xfrm>
        </p:grpSpPr>
        <p:sp>
          <p:nvSpPr>
            <p:cNvPr name="Freeform 8" id="8"/>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5"/>
              <a:stretch>
                <a:fillRect l="0" t="-30874" r="0" b="-46922"/>
              </a:stretch>
            </a:blipFill>
          </p:spPr>
        </p:sp>
      </p:grpSp>
      <p:grpSp>
        <p:nvGrpSpPr>
          <p:cNvPr name="Group 9" id="9"/>
          <p:cNvGrpSpPr>
            <a:grpSpLocks noChangeAspect="true"/>
          </p:cNvGrpSpPr>
          <p:nvPr/>
        </p:nvGrpSpPr>
        <p:grpSpPr>
          <a:xfrm rot="0">
            <a:off x="4282924" y="5958582"/>
            <a:ext cx="2787388" cy="2787070"/>
            <a:chOff x="0" y="0"/>
            <a:chExt cx="6350013" cy="6349289"/>
          </a:xfrm>
        </p:grpSpPr>
        <p:sp>
          <p:nvSpPr>
            <p:cNvPr name="Freeform 10" id="10"/>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6"/>
              <a:stretch>
                <a:fillRect l="-11220" t="-48222" r="0" b="-88"/>
              </a:stretch>
            </a:blipFill>
          </p:spPr>
        </p:sp>
      </p:grpSp>
      <p:grpSp>
        <p:nvGrpSpPr>
          <p:cNvPr name="Group 11" id="11"/>
          <p:cNvGrpSpPr>
            <a:grpSpLocks noChangeAspect="true"/>
          </p:cNvGrpSpPr>
          <p:nvPr/>
        </p:nvGrpSpPr>
        <p:grpSpPr>
          <a:xfrm rot="0">
            <a:off x="11039310" y="5958582"/>
            <a:ext cx="2787388" cy="2787070"/>
            <a:chOff x="0" y="0"/>
            <a:chExt cx="6350013" cy="6349289"/>
          </a:xfrm>
        </p:grpSpPr>
        <p:sp>
          <p:nvSpPr>
            <p:cNvPr name="Freeform 12" id="12"/>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7"/>
              <a:stretch>
                <a:fillRect l="-47630" t="-17089" r="-34711" b="-126354"/>
              </a:stretch>
            </a:blipFill>
          </p:spPr>
        </p:sp>
      </p:grpSp>
      <p:sp>
        <p:nvSpPr>
          <p:cNvPr name="TextBox 13" id="13"/>
          <p:cNvSpPr txBox="true"/>
          <p:nvPr/>
        </p:nvSpPr>
        <p:spPr>
          <a:xfrm rot="0">
            <a:off x="5676618" y="1724829"/>
            <a:ext cx="6756386" cy="967259"/>
          </a:xfrm>
          <a:prstGeom prst="rect">
            <a:avLst/>
          </a:prstGeom>
        </p:spPr>
        <p:txBody>
          <a:bodyPr anchor="t" rtlCol="false" tIns="0" lIns="0" bIns="0" rIns="0">
            <a:spAutoFit/>
          </a:bodyPr>
          <a:lstStyle/>
          <a:p>
            <a:pPr algn="ctr">
              <a:lnSpc>
                <a:spcPts val="7940"/>
              </a:lnSpc>
            </a:pPr>
            <a:r>
              <a:rPr lang="en-US" b="true" sz="5672">
                <a:solidFill>
                  <a:srgbClr val="004AAD"/>
                </a:solidFill>
                <a:latin typeface="League Spartan"/>
                <a:ea typeface="League Spartan"/>
                <a:cs typeface="League Spartan"/>
                <a:sym typeface="League Spartan"/>
              </a:rPr>
              <a:t>TEAM MEMBERS</a:t>
            </a:r>
          </a:p>
        </p:txBody>
      </p:sp>
      <p:sp>
        <p:nvSpPr>
          <p:cNvPr name="TextBox 14" id="14"/>
          <p:cNvSpPr txBox="true"/>
          <p:nvPr/>
        </p:nvSpPr>
        <p:spPr>
          <a:xfrm rot="0">
            <a:off x="6118918" y="1033855"/>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MEET OUR</a:t>
            </a:r>
          </a:p>
        </p:txBody>
      </p:sp>
      <p:sp>
        <p:nvSpPr>
          <p:cNvPr name="TextBox 15" id="15"/>
          <p:cNvSpPr txBox="true"/>
          <p:nvPr/>
        </p:nvSpPr>
        <p:spPr>
          <a:xfrm rot="0">
            <a:off x="674758" y="5901432"/>
            <a:ext cx="3496058" cy="431799"/>
          </a:xfrm>
          <a:prstGeom prst="rect">
            <a:avLst/>
          </a:prstGeom>
        </p:spPr>
        <p:txBody>
          <a:bodyPr anchor="t" rtlCol="false" tIns="0" lIns="0" bIns="0" rIns="0">
            <a:spAutoFit/>
          </a:bodyPr>
          <a:lstStyle/>
          <a:p>
            <a:pPr algn="ctr">
              <a:lnSpc>
                <a:spcPts val="3500"/>
              </a:lnSpc>
            </a:pPr>
            <a:r>
              <a:rPr lang="en-US" b="true" sz="2500">
                <a:solidFill>
                  <a:srgbClr val="000000"/>
                </a:solidFill>
                <a:latin typeface="Roboto Bold"/>
                <a:ea typeface="Roboto Bold"/>
                <a:cs typeface="Roboto Bold"/>
                <a:sym typeface="Roboto Bold"/>
              </a:rPr>
              <a:t>M</a:t>
            </a:r>
            <a:r>
              <a:rPr lang="en-US" b="true" sz="2500">
                <a:solidFill>
                  <a:srgbClr val="000000"/>
                </a:solidFill>
                <a:latin typeface="Roboto Bold"/>
                <a:ea typeface="Roboto Bold"/>
                <a:cs typeface="Roboto Bold"/>
                <a:sym typeface="Roboto Bold"/>
              </a:rPr>
              <a:t>AMDOUH FAHEEM</a:t>
            </a:r>
          </a:p>
        </p:txBody>
      </p:sp>
      <p:sp>
        <p:nvSpPr>
          <p:cNvPr name="TextBox 16" id="16"/>
          <p:cNvSpPr txBox="true"/>
          <p:nvPr/>
        </p:nvSpPr>
        <p:spPr>
          <a:xfrm rot="0">
            <a:off x="2263534" y="8840902"/>
            <a:ext cx="6756386" cy="431799"/>
          </a:xfrm>
          <a:prstGeom prst="rect">
            <a:avLst/>
          </a:prstGeom>
        </p:spPr>
        <p:txBody>
          <a:bodyPr anchor="t" rtlCol="false" tIns="0" lIns="0" bIns="0" rIns="0">
            <a:spAutoFit/>
          </a:bodyPr>
          <a:lstStyle/>
          <a:p>
            <a:pPr algn="ctr">
              <a:lnSpc>
                <a:spcPts val="3500"/>
              </a:lnSpc>
            </a:pPr>
            <a:r>
              <a:rPr lang="en-US" b="true" sz="2500">
                <a:solidFill>
                  <a:srgbClr val="000000"/>
                </a:solidFill>
                <a:latin typeface="Roboto Bold"/>
                <a:ea typeface="Roboto Bold"/>
                <a:cs typeface="Roboto Bold"/>
                <a:sym typeface="Roboto Bold"/>
              </a:rPr>
              <a:t>M</a:t>
            </a:r>
            <a:r>
              <a:rPr lang="en-US" b="true" sz="2500">
                <a:solidFill>
                  <a:srgbClr val="000000"/>
                </a:solidFill>
                <a:latin typeface="Roboto Bold"/>
                <a:ea typeface="Roboto Bold"/>
                <a:cs typeface="Roboto Bold"/>
                <a:sym typeface="Roboto Bold"/>
              </a:rPr>
              <a:t>ARAM IBRAHIM</a:t>
            </a:r>
          </a:p>
        </p:txBody>
      </p:sp>
      <p:sp>
        <p:nvSpPr>
          <p:cNvPr name="TextBox 17" id="17"/>
          <p:cNvSpPr txBox="true"/>
          <p:nvPr/>
        </p:nvSpPr>
        <p:spPr>
          <a:xfrm rot="0">
            <a:off x="5800980" y="5901432"/>
            <a:ext cx="6756386" cy="431799"/>
          </a:xfrm>
          <a:prstGeom prst="rect">
            <a:avLst/>
          </a:prstGeom>
        </p:spPr>
        <p:txBody>
          <a:bodyPr anchor="t" rtlCol="false" tIns="0" lIns="0" bIns="0" rIns="0">
            <a:spAutoFit/>
          </a:bodyPr>
          <a:lstStyle/>
          <a:p>
            <a:pPr algn="ctr">
              <a:lnSpc>
                <a:spcPts val="3500"/>
              </a:lnSpc>
            </a:pPr>
            <a:r>
              <a:rPr lang="en-US" b="true" sz="2500">
                <a:solidFill>
                  <a:srgbClr val="000000"/>
                </a:solidFill>
                <a:latin typeface="Roboto Bold"/>
                <a:ea typeface="Roboto Bold"/>
                <a:cs typeface="Roboto Bold"/>
                <a:sym typeface="Roboto Bold"/>
              </a:rPr>
              <a:t>MOHAMED AYMAN</a:t>
            </a:r>
          </a:p>
        </p:txBody>
      </p:sp>
      <p:sp>
        <p:nvSpPr>
          <p:cNvPr name="TextBox 18" id="18"/>
          <p:cNvSpPr txBox="true"/>
          <p:nvPr/>
        </p:nvSpPr>
        <p:spPr>
          <a:xfrm rot="0">
            <a:off x="12557366" y="5901432"/>
            <a:ext cx="6756386" cy="431799"/>
          </a:xfrm>
          <a:prstGeom prst="rect">
            <a:avLst/>
          </a:prstGeom>
        </p:spPr>
        <p:txBody>
          <a:bodyPr anchor="t" rtlCol="false" tIns="0" lIns="0" bIns="0" rIns="0">
            <a:spAutoFit/>
          </a:bodyPr>
          <a:lstStyle/>
          <a:p>
            <a:pPr algn="ctr">
              <a:lnSpc>
                <a:spcPts val="3500"/>
              </a:lnSpc>
            </a:pPr>
            <a:r>
              <a:rPr lang="en-US" b="true" sz="2500">
                <a:solidFill>
                  <a:srgbClr val="000000"/>
                </a:solidFill>
                <a:latin typeface="Roboto Bold"/>
                <a:ea typeface="Roboto Bold"/>
                <a:cs typeface="Roboto Bold"/>
                <a:sym typeface="Roboto Bold"/>
              </a:rPr>
              <a:t>SARAH ELSHENAWY</a:t>
            </a:r>
          </a:p>
        </p:txBody>
      </p:sp>
      <p:sp>
        <p:nvSpPr>
          <p:cNvPr name="TextBox 19" id="19"/>
          <p:cNvSpPr txBox="true"/>
          <p:nvPr/>
        </p:nvSpPr>
        <p:spPr>
          <a:xfrm rot="0">
            <a:off x="9179173" y="8840902"/>
            <a:ext cx="6756386" cy="431799"/>
          </a:xfrm>
          <a:prstGeom prst="rect">
            <a:avLst/>
          </a:prstGeom>
        </p:spPr>
        <p:txBody>
          <a:bodyPr anchor="t" rtlCol="false" tIns="0" lIns="0" bIns="0" rIns="0">
            <a:spAutoFit/>
          </a:bodyPr>
          <a:lstStyle/>
          <a:p>
            <a:pPr algn="ctr">
              <a:lnSpc>
                <a:spcPts val="3500"/>
              </a:lnSpc>
            </a:pPr>
            <a:r>
              <a:rPr lang="en-US" b="true" sz="2500">
                <a:solidFill>
                  <a:srgbClr val="000000"/>
                </a:solidFill>
                <a:latin typeface="Roboto Bold"/>
                <a:ea typeface="Roboto Bold"/>
                <a:cs typeface="Roboto Bold"/>
                <a:sym typeface="Roboto Bold"/>
              </a:rPr>
              <a:t>RAHMA OSAMA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25852">
            <a:off x="12872636" y="-6723952"/>
            <a:ext cx="9386678" cy="10557613"/>
          </a:xfrm>
          <a:custGeom>
            <a:avLst/>
            <a:gdLst/>
            <a:ahLst/>
            <a:cxnLst/>
            <a:rect r="r" b="b" t="t" l="l"/>
            <a:pathLst>
              <a:path h="10557613" w="9386678">
                <a:moveTo>
                  <a:pt x="0" y="0"/>
                </a:moveTo>
                <a:lnTo>
                  <a:pt x="9386678" y="0"/>
                </a:lnTo>
                <a:lnTo>
                  <a:pt x="9386678" y="10557614"/>
                </a:lnTo>
                <a:lnTo>
                  <a:pt x="0" y="10557614"/>
                </a:lnTo>
                <a:lnTo>
                  <a:pt x="0" y="0"/>
                </a:lnTo>
                <a:close/>
              </a:path>
            </a:pathLst>
          </a:custGeom>
          <a:blipFill>
            <a:blip r:embed="rId2">
              <a:alphaModFix amt="20999"/>
            </a:blip>
            <a:stretch>
              <a:fillRect l="0" t="0" r="0" b="0"/>
            </a:stretch>
          </a:blipFill>
        </p:spPr>
      </p:sp>
      <p:sp>
        <p:nvSpPr>
          <p:cNvPr name="TextBox 3" id="3"/>
          <p:cNvSpPr txBox="true"/>
          <p:nvPr/>
        </p:nvSpPr>
        <p:spPr>
          <a:xfrm rot="0">
            <a:off x="292168" y="2127430"/>
            <a:ext cx="13389009" cy="1991360"/>
          </a:xfrm>
          <a:prstGeom prst="rect">
            <a:avLst/>
          </a:prstGeom>
        </p:spPr>
        <p:txBody>
          <a:bodyPr anchor="t" rtlCol="false" tIns="0" lIns="0" bIns="0" rIns="0">
            <a:spAutoFit/>
          </a:bodyPr>
          <a:lstStyle/>
          <a:p>
            <a:pPr algn="l">
              <a:lnSpc>
                <a:spcPts val="5169"/>
              </a:lnSpc>
            </a:pPr>
            <a:r>
              <a:rPr lang="en-US" sz="5499" spc="-258" b="true">
                <a:solidFill>
                  <a:srgbClr val="004AAD"/>
                </a:solidFill>
                <a:latin typeface="Open Sauce Heavy"/>
                <a:ea typeface="Open Sauce Heavy"/>
                <a:cs typeface="Open Sauce Heavy"/>
                <a:sym typeface="Open Sauce Heavy"/>
              </a:rPr>
              <a:t>Manufacturing &amp; Distribution Lifecycle</a:t>
            </a:r>
          </a:p>
          <a:p>
            <a:pPr algn="l">
              <a:lnSpc>
                <a:spcPts val="5169"/>
              </a:lnSpc>
            </a:pPr>
          </a:p>
          <a:p>
            <a:pPr algn="l">
              <a:lnSpc>
                <a:spcPts val="5169"/>
              </a:lnSpc>
            </a:pPr>
          </a:p>
        </p:txBody>
      </p:sp>
      <p:sp>
        <p:nvSpPr>
          <p:cNvPr name="AutoShape 4" id="4"/>
          <p:cNvSpPr/>
          <p:nvPr/>
        </p:nvSpPr>
        <p:spPr>
          <a:xfrm flipV="true">
            <a:off x="292168" y="1680174"/>
            <a:ext cx="18288000" cy="19050"/>
          </a:xfrm>
          <a:prstGeom prst="line">
            <a:avLst/>
          </a:prstGeom>
          <a:ln cap="flat" w="38100">
            <a:solidFill>
              <a:srgbClr val="B3B2CB"/>
            </a:solidFill>
            <a:prstDash val="solid"/>
            <a:headEnd type="none" len="sm" w="sm"/>
            <a:tailEnd type="none" len="sm" w="sm"/>
          </a:ln>
        </p:spPr>
      </p:sp>
      <p:sp>
        <p:nvSpPr>
          <p:cNvPr name="Freeform 5" id="5"/>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6" id="6"/>
          <p:cNvSpPr/>
          <p:nvPr/>
        </p:nvSpPr>
        <p:spPr>
          <a:xfrm flipH="false" flipV="false" rot="0">
            <a:off x="-360560" y="-131585"/>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7" id="7"/>
          <p:cNvSpPr/>
          <p:nvPr/>
        </p:nvSpPr>
        <p:spPr>
          <a:xfrm flipH="false" flipV="false" rot="0">
            <a:off x="3253676" y="3310285"/>
            <a:ext cx="11009790" cy="5948015"/>
          </a:xfrm>
          <a:custGeom>
            <a:avLst/>
            <a:gdLst/>
            <a:ahLst/>
            <a:cxnLst/>
            <a:rect r="r" b="b" t="t" l="l"/>
            <a:pathLst>
              <a:path h="5948015" w="11009790">
                <a:moveTo>
                  <a:pt x="0" y="0"/>
                </a:moveTo>
                <a:lnTo>
                  <a:pt x="11009790" y="0"/>
                </a:lnTo>
                <a:lnTo>
                  <a:pt x="11009790" y="5948015"/>
                </a:lnTo>
                <a:lnTo>
                  <a:pt x="0" y="5948015"/>
                </a:lnTo>
                <a:lnTo>
                  <a:pt x="0" y="0"/>
                </a:lnTo>
                <a:close/>
              </a:path>
            </a:pathLst>
          </a:custGeom>
          <a:blipFill>
            <a:blip r:embed="rId5"/>
            <a:stretch>
              <a:fillRect l="-276" t="-23663"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25852">
            <a:off x="14300671" y="-5674659"/>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2">
              <a:alphaModFix amt="20999"/>
            </a:blip>
            <a:stretch>
              <a:fillRect l="0" t="0" r="0" b="0"/>
            </a:stretch>
          </a:blipFill>
        </p:spPr>
      </p:sp>
      <p:grpSp>
        <p:nvGrpSpPr>
          <p:cNvPr name="Group 3" id="3"/>
          <p:cNvGrpSpPr/>
          <p:nvPr/>
        </p:nvGrpSpPr>
        <p:grpSpPr>
          <a:xfrm rot="0">
            <a:off x="1000125" y="4064050"/>
            <a:ext cx="16360888" cy="4960467"/>
            <a:chOff x="0" y="0"/>
            <a:chExt cx="4309041" cy="1306461"/>
          </a:xfrm>
        </p:grpSpPr>
        <p:sp>
          <p:nvSpPr>
            <p:cNvPr name="Freeform 4" id="4"/>
            <p:cNvSpPr/>
            <p:nvPr/>
          </p:nvSpPr>
          <p:spPr>
            <a:xfrm flipH="false" flipV="false" rot="0">
              <a:off x="0" y="0"/>
              <a:ext cx="4309040" cy="1306461"/>
            </a:xfrm>
            <a:custGeom>
              <a:avLst/>
              <a:gdLst/>
              <a:ahLst/>
              <a:cxnLst/>
              <a:rect r="r" b="b" t="t" l="l"/>
              <a:pathLst>
                <a:path h="1306461" w="4309040">
                  <a:moveTo>
                    <a:pt x="44007" y="0"/>
                  </a:moveTo>
                  <a:lnTo>
                    <a:pt x="4265033" y="0"/>
                  </a:lnTo>
                  <a:cubicBezTo>
                    <a:pt x="4276704" y="0"/>
                    <a:pt x="4287898" y="4636"/>
                    <a:pt x="4296151" y="12889"/>
                  </a:cubicBezTo>
                  <a:cubicBezTo>
                    <a:pt x="4304404" y="21142"/>
                    <a:pt x="4309040" y="32336"/>
                    <a:pt x="4309040" y="44007"/>
                  </a:cubicBezTo>
                  <a:lnTo>
                    <a:pt x="4309040" y="1262453"/>
                  </a:lnTo>
                  <a:cubicBezTo>
                    <a:pt x="4309040" y="1274125"/>
                    <a:pt x="4304404" y="1285318"/>
                    <a:pt x="4296151" y="1293571"/>
                  </a:cubicBezTo>
                  <a:cubicBezTo>
                    <a:pt x="4287898" y="1301824"/>
                    <a:pt x="4276704" y="1306461"/>
                    <a:pt x="4265033" y="1306461"/>
                  </a:cubicBezTo>
                  <a:lnTo>
                    <a:pt x="44007" y="1306461"/>
                  </a:lnTo>
                  <a:cubicBezTo>
                    <a:pt x="32336" y="1306461"/>
                    <a:pt x="21142" y="1301824"/>
                    <a:pt x="12889" y="1293571"/>
                  </a:cubicBezTo>
                  <a:cubicBezTo>
                    <a:pt x="4636" y="1285318"/>
                    <a:pt x="0" y="1274125"/>
                    <a:pt x="0" y="1262453"/>
                  </a:cubicBezTo>
                  <a:lnTo>
                    <a:pt x="0" y="44007"/>
                  </a:lnTo>
                  <a:cubicBezTo>
                    <a:pt x="0" y="32336"/>
                    <a:pt x="4636" y="21142"/>
                    <a:pt x="12889" y="12889"/>
                  </a:cubicBezTo>
                  <a:cubicBezTo>
                    <a:pt x="21142" y="4636"/>
                    <a:pt x="32336" y="0"/>
                    <a:pt x="44007" y="0"/>
                  </a:cubicBezTo>
                  <a:close/>
                </a:path>
              </a:pathLst>
            </a:custGeom>
            <a:solidFill>
              <a:srgbClr val="FFFFFF"/>
            </a:solidFill>
            <a:ln w="19050" cap="rnd">
              <a:solidFill>
                <a:srgbClr val="D0D7DD"/>
              </a:solidFill>
              <a:prstDash val="solid"/>
              <a:round/>
            </a:ln>
          </p:spPr>
        </p:sp>
        <p:sp>
          <p:nvSpPr>
            <p:cNvPr name="TextBox 5" id="5"/>
            <p:cNvSpPr txBox="true"/>
            <p:nvPr/>
          </p:nvSpPr>
          <p:spPr>
            <a:xfrm>
              <a:off x="0" y="-28575"/>
              <a:ext cx="4309041" cy="1335036"/>
            </a:xfrm>
            <a:prstGeom prst="rect">
              <a:avLst/>
            </a:prstGeom>
          </p:spPr>
          <p:txBody>
            <a:bodyPr anchor="ctr" rtlCol="false" tIns="50800" lIns="50800" bIns="50800" rIns="50800"/>
            <a:lstStyle/>
            <a:p>
              <a:pPr algn="ctr">
                <a:lnSpc>
                  <a:spcPts val="2015"/>
                </a:lnSpc>
              </a:pPr>
            </a:p>
          </p:txBody>
        </p:sp>
      </p:grpSp>
      <p:sp>
        <p:nvSpPr>
          <p:cNvPr name="TextBox 6" id="6"/>
          <p:cNvSpPr txBox="true"/>
          <p:nvPr/>
        </p:nvSpPr>
        <p:spPr>
          <a:xfrm rot="0">
            <a:off x="1186075" y="2834690"/>
            <a:ext cx="13389009" cy="695960"/>
          </a:xfrm>
          <a:prstGeom prst="rect">
            <a:avLst/>
          </a:prstGeom>
        </p:spPr>
        <p:txBody>
          <a:bodyPr anchor="t" rtlCol="false" tIns="0" lIns="0" bIns="0" rIns="0">
            <a:spAutoFit/>
          </a:bodyPr>
          <a:lstStyle/>
          <a:p>
            <a:pPr algn="l">
              <a:lnSpc>
                <a:spcPts val="5169"/>
              </a:lnSpc>
            </a:pPr>
            <a:r>
              <a:rPr lang="en-US" sz="5499" spc="-258" b="true">
                <a:solidFill>
                  <a:srgbClr val="004AAD"/>
                </a:solidFill>
                <a:latin typeface="Open Sauce Heavy"/>
                <a:ea typeface="Open Sauce Heavy"/>
                <a:cs typeface="Open Sauce Heavy"/>
                <a:sym typeface="Open Sauce Heavy"/>
              </a:rPr>
              <a:t>Problem Statement</a:t>
            </a:r>
          </a:p>
        </p:txBody>
      </p:sp>
      <p:sp>
        <p:nvSpPr>
          <p:cNvPr name="TextBox 7" id="7"/>
          <p:cNvSpPr txBox="true"/>
          <p:nvPr/>
        </p:nvSpPr>
        <p:spPr>
          <a:xfrm rot="0">
            <a:off x="2125271" y="4741598"/>
            <a:ext cx="3520737" cy="638175"/>
          </a:xfrm>
          <a:prstGeom prst="rect">
            <a:avLst/>
          </a:prstGeom>
        </p:spPr>
        <p:txBody>
          <a:bodyPr anchor="t" rtlCol="false" tIns="0" lIns="0" bIns="0" rIns="0">
            <a:spAutoFit/>
          </a:bodyPr>
          <a:lstStyle/>
          <a:p>
            <a:pPr algn="l">
              <a:lnSpc>
                <a:spcPts val="2520"/>
              </a:lnSpc>
            </a:pPr>
            <a:r>
              <a:rPr lang="en-US" b="true" sz="2100" spc="-98">
                <a:solidFill>
                  <a:srgbClr val="000000"/>
                </a:solidFill>
                <a:latin typeface="Open Sauce Heavy"/>
                <a:ea typeface="Open Sauce Heavy"/>
                <a:cs typeface="Open Sauce Heavy"/>
                <a:sym typeface="Open Sauce Heavy"/>
              </a:rPr>
              <a:t>ISOLATED ERP SILOS (SEPARATED MODULES)</a:t>
            </a:r>
          </a:p>
        </p:txBody>
      </p:sp>
      <p:sp>
        <p:nvSpPr>
          <p:cNvPr name="TextBox 8" id="8"/>
          <p:cNvSpPr txBox="true"/>
          <p:nvPr/>
        </p:nvSpPr>
        <p:spPr>
          <a:xfrm rot="0">
            <a:off x="7622193" y="4546335"/>
            <a:ext cx="4171821" cy="638175"/>
          </a:xfrm>
          <a:prstGeom prst="rect">
            <a:avLst/>
          </a:prstGeom>
        </p:spPr>
        <p:txBody>
          <a:bodyPr anchor="t" rtlCol="false" tIns="0" lIns="0" bIns="0" rIns="0">
            <a:spAutoFit/>
          </a:bodyPr>
          <a:lstStyle/>
          <a:p>
            <a:pPr algn="l">
              <a:lnSpc>
                <a:spcPts val="2520"/>
              </a:lnSpc>
            </a:pPr>
            <a:r>
              <a:rPr lang="en-US" b="true" sz="2100" spc="-98">
                <a:solidFill>
                  <a:srgbClr val="000000"/>
                </a:solidFill>
                <a:latin typeface="Open Sauce Heavy"/>
                <a:ea typeface="Open Sauce Heavy"/>
                <a:cs typeface="Open Sauce Heavy"/>
                <a:sym typeface="Open Sauce Heavy"/>
              </a:rPr>
              <a:t> THE OPERATIONAL DECISION G</a:t>
            </a:r>
            <a:r>
              <a:rPr lang="en-US" b="true" sz="2100" spc="-98">
                <a:solidFill>
                  <a:srgbClr val="000000"/>
                </a:solidFill>
                <a:latin typeface="Open Sauce Heavy"/>
                <a:ea typeface="Open Sauce Heavy"/>
                <a:cs typeface="Open Sauce Heavy"/>
                <a:sym typeface="Open Sauce Heavy"/>
              </a:rPr>
              <a:t>AP (THE BLIND SPOT)</a:t>
            </a:r>
          </a:p>
        </p:txBody>
      </p:sp>
      <p:sp>
        <p:nvSpPr>
          <p:cNvPr name="TextBox 9" id="9"/>
          <p:cNvSpPr txBox="true"/>
          <p:nvPr/>
        </p:nvSpPr>
        <p:spPr>
          <a:xfrm rot="0">
            <a:off x="13146840" y="4546335"/>
            <a:ext cx="3520737" cy="952500"/>
          </a:xfrm>
          <a:prstGeom prst="rect">
            <a:avLst/>
          </a:prstGeom>
        </p:spPr>
        <p:txBody>
          <a:bodyPr anchor="t" rtlCol="false" tIns="0" lIns="0" bIns="0" rIns="0">
            <a:spAutoFit/>
          </a:bodyPr>
          <a:lstStyle/>
          <a:p>
            <a:pPr algn="l">
              <a:lnSpc>
                <a:spcPts val="2520"/>
              </a:lnSpc>
            </a:pPr>
            <a:r>
              <a:rPr lang="en-US" b="true" sz="2100" spc="-98">
                <a:solidFill>
                  <a:srgbClr val="000000"/>
                </a:solidFill>
                <a:latin typeface="Open Sauce Heavy"/>
                <a:ea typeface="Open Sauce Heavy"/>
                <a:cs typeface="Open Sauce Heavy"/>
                <a:sym typeface="Open Sauce Heavy"/>
              </a:rPr>
              <a:t>UNEXPLOITED DATA &amp; DISCONNECTED R</a:t>
            </a:r>
            <a:r>
              <a:rPr lang="en-US" b="true" sz="2100" spc="-98">
                <a:solidFill>
                  <a:srgbClr val="000000"/>
                </a:solidFill>
                <a:latin typeface="Open Sauce Heavy"/>
                <a:ea typeface="Open Sauce Heavy"/>
                <a:cs typeface="Open Sauce Heavy"/>
                <a:sym typeface="Open Sauce Heavy"/>
              </a:rPr>
              <a:t>OOT-CAUSES </a:t>
            </a:r>
          </a:p>
        </p:txBody>
      </p:sp>
      <p:sp>
        <p:nvSpPr>
          <p:cNvPr name="AutoShape 10" id="10"/>
          <p:cNvSpPr/>
          <p:nvPr/>
        </p:nvSpPr>
        <p:spPr>
          <a:xfrm>
            <a:off x="6278891" y="4540726"/>
            <a:ext cx="0" cy="3930176"/>
          </a:xfrm>
          <a:prstGeom prst="line">
            <a:avLst/>
          </a:prstGeom>
          <a:ln cap="flat" w="19050">
            <a:solidFill>
              <a:srgbClr val="D0D7DD"/>
            </a:solidFill>
            <a:prstDash val="solid"/>
            <a:headEnd type="none" len="sm" w="sm"/>
            <a:tailEnd type="none" len="sm" w="sm"/>
          </a:ln>
        </p:spPr>
      </p:sp>
      <p:sp>
        <p:nvSpPr>
          <p:cNvPr name="AutoShape 11" id="11"/>
          <p:cNvSpPr/>
          <p:nvPr/>
        </p:nvSpPr>
        <p:spPr>
          <a:xfrm>
            <a:off x="11794014" y="4540726"/>
            <a:ext cx="0" cy="3930176"/>
          </a:xfrm>
          <a:prstGeom prst="line">
            <a:avLst/>
          </a:prstGeom>
          <a:ln cap="flat" w="19050">
            <a:solidFill>
              <a:srgbClr val="D0D7DD"/>
            </a:solidFill>
            <a:prstDash val="solid"/>
            <a:headEnd type="none" len="sm" w="sm"/>
            <a:tailEnd type="none" len="sm" w="sm"/>
          </a:ln>
        </p:spPr>
      </p:sp>
      <p:grpSp>
        <p:nvGrpSpPr>
          <p:cNvPr name="Group 12" id="12"/>
          <p:cNvGrpSpPr/>
          <p:nvPr/>
        </p:nvGrpSpPr>
        <p:grpSpPr>
          <a:xfrm rot="0">
            <a:off x="1586670" y="4751123"/>
            <a:ext cx="387050" cy="3870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F65">
                    <a:alpha val="100000"/>
                  </a:srgbClr>
                </a:gs>
                <a:gs pos="100000">
                  <a:srgbClr val="6895FD">
                    <a:alpha val="100000"/>
                  </a:srgbClr>
                </a:gs>
              </a:gsLst>
              <a:lin ang="5400000"/>
            </a:gradFill>
            <a:ln w="9525" cap="sq">
              <a:solidFill>
                <a:srgbClr val="FFFFFF"/>
              </a:solidFill>
              <a:prstDash val="solid"/>
              <a:miter/>
            </a:ln>
          </p:spPr>
        </p:sp>
        <p:sp>
          <p:nvSpPr>
            <p:cNvPr name="TextBox 14" id="14"/>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grpSp>
        <p:nvGrpSpPr>
          <p:cNvPr name="Group 15" id="15"/>
          <p:cNvGrpSpPr/>
          <p:nvPr/>
        </p:nvGrpSpPr>
        <p:grpSpPr>
          <a:xfrm rot="0">
            <a:off x="7101793" y="4751123"/>
            <a:ext cx="387050" cy="38705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F65">
                    <a:alpha val="100000"/>
                  </a:srgbClr>
                </a:gs>
                <a:gs pos="100000">
                  <a:srgbClr val="6895FD">
                    <a:alpha val="100000"/>
                  </a:srgbClr>
                </a:gs>
              </a:gsLst>
              <a:lin ang="5400000"/>
            </a:gradFill>
            <a:ln w="9525" cap="sq">
              <a:solidFill>
                <a:srgbClr val="FFFFFF"/>
              </a:solidFill>
              <a:prstDash val="solid"/>
              <a:miter/>
            </a:ln>
          </p:spPr>
        </p:sp>
        <p:sp>
          <p:nvSpPr>
            <p:cNvPr name="TextBox 17" id="17"/>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grpSp>
        <p:nvGrpSpPr>
          <p:cNvPr name="Group 18" id="18"/>
          <p:cNvGrpSpPr/>
          <p:nvPr/>
        </p:nvGrpSpPr>
        <p:grpSpPr>
          <a:xfrm rot="0">
            <a:off x="12626440" y="4751123"/>
            <a:ext cx="387050" cy="38705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F65">
                    <a:alpha val="100000"/>
                  </a:srgbClr>
                </a:gs>
                <a:gs pos="100000">
                  <a:srgbClr val="6895FD">
                    <a:alpha val="100000"/>
                  </a:srgbClr>
                </a:gs>
              </a:gsLst>
              <a:lin ang="5400000"/>
            </a:gradFill>
            <a:ln w="9525" cap="sq">
              <a:solidFill>
                <a:srgbClr val="FFFFFF"/>
              </a:solidFill>
              <a:prstDash val="solid"/>
              <a:miter/>
            </a:ln>
          </p:spPr>
        </p:sp>
        <p:sp>
          <p:nvSpPr>
            <p:cNvPr name="TextBox 20" id="20"/>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TextBox 21" id="21"/>
          <p:cNvSpPr txBox="true"/>
          <p:nvPr/>
        </p:nvSpPr>
        <p:spPr>
          <a:xfrm rot="0">
            <a:off x="1571978" y="5748196"/>
            <a:ext cx="3897288" cy="1931035"/>
          </a:xfrm>
          <a:prstGeom prst="rect">
            <a:avLst/>
          </a:prstGeom>
        </p:spPr>
        <p:txBody>
          <a:bodyPr anchor="t" rtlCol="false" tIns="0" lIns="0" bIns="0" rIns="0">
            <a:spAutoFit/>
          </a:bodyPr>
          <a:lstStyle/>
          <a:p>
            <a:pPr algn="l" marL="345439" indent="-172720" lvl="1">
              <a:lnSpc>
                <a:spcPts val="2239"/>
              </a:lnSpc>
              <a:buFont typeface="Arial"/>
              <a:buChar char="•"/>
            </a:pPr>
            <a:r>
              <a:rPr lang="en-US" sz="1599" spc="-75">
                <a:solidFill>
                  <a:srgbClr val="000000"/>
                </a:solidFill>
                <a:latin typeface="Open Sauce Light"/>
                <a:ea typeface="Open Sauce Light"/>
                <a:cs typeface="Open Sauce Light"/>
                <a:sym typeface="Open Sauce Light"/>
              </a:rPr>
              <a:t>In trad</a:t>
            </a:r>
            <a:r>
              <a:rPr lang="en-US" sz="1599" spc="-75">
                <a:solidFill>
                  <a:srgbClr val="000000"/>
                </a:solidFill>
                <a:latin typeface="Open Sauce Light"/>
                <a:ea typeface="Open Sauce Light"/>
                <a:cs typeface="Open Sauce Light"/>
                <a:sym typeface="Open Sauce Light"/>
              </a:rPr>
              <a:t>itional ERP systems, every department operates in an isolated "Module" (Silo). Data is trapped inside Procurement, Warehouse, or Sales, with zero native horizontal integration, leading to communication lag and data fragmentation.</a:t>
            </a:r>
          </a:p>
        </p:txBody>
      </p:sp>
      <p:sp>
        <p:nvSpPr>
          <p:cNvPr name="TextBox 22" id="22"/>
          <p:cNvSpPr txBox="true"/>
          <p:nvPr/>
        </p:nvSpPr>
        <p:spPr>
          <a:xfrm rot="0">
            <a:off x="7088516" y="5886309"/>
            <a:ext cx="3897288" cy="1654810"/>
          </a:xfrm>
          <a:prstGeom prst="rect">
            <a:avLst/>
          </a:prstGeom>
        </p:spPr>
        <p:txBody>
          <a:bodyPr anchor="t" rtlCol="false" tIns="0" lIns="0" bIns="0" rIns="0">
            <a:spAutoFit/>
          </a:bodyPr>
          <a:lstStyle/>
          <a:p>
            <a:pPr algn="l">
              <a:lnSpc>
                <a:spcPts val="2239"/>
              </a:lnSpc>
            </a:pPr>
            <a:r>
              <a:rPr lang="en-US" sz="1599" spc="-75">
                <a:solidFill>
                  <a:srgbClr val="000000"/>
                </a:solidFill>
                <a:latin typeface="Open Sauce Light"/>
                <a:ea typeface="Open Sauce Light"/>
                <a:cs typeface="Open Sauce Light"/>
                <a:sym typeface="Open Sauce Light"/>
              </a:rPr>
              <a:t> A massive visibility gap exists between the executive desk and the reality of the factory floor or the road. Decision-makers lack the power to connect immediate floor-level incidents (like a quality fail or fuel drop) to a broader corporate strategy in real-time.</a:t>
            </a:r>
          </a:p>
        </p:txBody>
      </p:sp>
      <p:sp>
        <p:nvSpPr>
          <p:cNvPr name="TextBox 23" id="23"/>
          <p:cNvSpPr txBox="true"/>
          <p:nvPr/>
        </p:nvSpPr>
        <p:spPr>
          <a:xfrm rot="0">
            <a:off x="12603639" y="5886309"/>
            <a:ext cx="3897288" cy="1931035"/>
          </a:xfrm>
          <a:prstGeom prst="rect">
            <a:avLst/>
          </a:prstGeom>
        </p:spPr>
        <p:txBody>
          <a:bodyPr anchor="t" rtlCol="false" tIns="0" lIns="0" bIns="0" rIns="0">
            <a:spAutoFit/>
          </a:bodyPr>
          <a:lstStyle/>
          <a:p>
            <a:pPr algn="l">
              <a:lnSpc>
                <a:spcPts val="2239"/>
              </a:lnSpc>
            </a:pPr>
            <a:r>
              <a:rPr lang="en-US" sz="1599" spc="-75">
                <a:solidFill>
                  <a:srgbClr val="000000"/>
                </a:solidFill>
                <a:latin typeface="Open Sauce Light"/>
                <a:ea typeface="Open Sauce Light"/>
                <a:cs typeface="Open Sauce Light"/>
                <a:sym typeface="Open Sauce Light"/>
              </a:rPr>
              <a:t>Compani</a:t>
            </a:r>
            <a:r>
              <a:rPr lang="en-US" sz="1599" spc="-75">
                <a:solidFill>
                  <a:srgbClr val="000000"/>
                </a:solidFill>
                <a:latin typeface="Open Sauce Light"/>
                <a:ea typeface="Open Sauce Light"/>
                <a:cs typeface="Open Sauce Light"/>
                <a:sym typeface="Open Sauce Light"/>
              </a:rPr>
              <a:t>es generate millions of rows of data across the cycle, yet they fail to leverage these numbers. They treat symptoms rather than root causes—such as failing to link a spike in Customer Returns (Logistics/Sales) back to a specific Vendor’s raw materials or a machine fault in the Production Line.</a:t>
            </a:r>
          </a:p>
        </p:txBody>
      </p:sp>
      <p:sp>
        <p:nvSpPr>
          <p:cNvPr name="AutoShape 24" id="24"/>
          <p:cNvSpPr/>
          <p:nvPr/>
        </p:nvSpPr>
        <p:spPr>
          <a:xfrm flipV="true">
            <a:off x="292168" y="1680174"/>
            <a:ext cx="18288000" cy="19050"/>
          </a:xfrm>
          <a:prstGeom prst="line">
            <a:avLst/>
          </a:prstGeom>
          <a:ln cap="flat" w="38100">
            <a:solidFill>
              <a:srgbClr val="B3B2CB"/>
            </a:solidFill>
            <a:prstDash val="solid"/>
            <a:headEnd type="none" len="sm" w="sm"/>
            <a:tailEnd type="none" len="sm" w="sm"/>
          </a:ln>
        </p:spPr>
      </p:sp>
      <p:sp>
        <p:nvSpPr>
          <p:cNvPr name="Freeform 25" id="25"/>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26" id="26"/>
          <p:cNvSpPr/>
          <p:nvPr/>
        </p:nvSpPr>
        <p:spPr>
          <a:xfrm flipH="false" flipV="false" rot="0">
            <a:off x="-360560" y="-131585"/>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976214" y="2236785"/>
            <a:ext cx="14335571" cy="1491804"/>
          </a:xfrm>
          <a:prstGeom prst="rect">
            <a:avLst/>
          </a:prstGeom>
        </p:spPr>
        <p:txBody>
          <a:bodyPr anchor="t" rtlCol="false" tIns="0" lIns="0" bIns="0" rIns="0">
            <a:spAutoFit/>
          </a:bodyPr>
          <a:lstStyle/>
          <a:p>
            <a:pPr algn="ctr">
              <a:lnSpc>
                <a:spcPts val="6885"/>
              </a:lnSpc>
            </a:pPr>
            <a:r>
              <a:rPr lang="en-US" b="true" sz="4500" spc="-211">
                <a:solidFill>
                  <a:srgbClr val="004AAD"/>
                </a:solidFill>
                <a:latin typeface="Open Sauce Heavy"/>
                <a:ea typeface="Open Sauce Heavy"/>
                <a:cs typeface="Open Sauce Heavy"/>
                <a:sym typeface="Open Sauce Heavy"/>
              </a:rPr>
              <a:t>Proposed Solution</a:t>
            </a:r>
          </a:p>
          <a:p>
            <a:pPr algn="ctr">
              <a:lnSpc>
                <a:spcPts val="5202"/>
              </a:lnSpc>
            </a:pPr>
            <a:r>
              <a:rPr lang="en-US" sz="3400" spc="-159">
                <a:solidFill>
                  <a:srgbClr val="000000"/>
                </a:solidFill>
                <a:latin typeface="Open Sauce"/>
                <a:ea typeface="Open Sauce"/>
                <a:cs typeface="Open Sauce"/>
                <a:sym typeface="Open Sauce"/>
              </a:rPr>
              <a:t>LogiInsight 360 – The Operating System for Supply Chains</a:t>
            </a:r>
          </a:p>
        </p:txBody>
      </p:sp>
      <p:grpSp>
        <p:nvGrpSpPr>
          <p:cNvPr name="Group 4" id="4"/>
          <p:cNvGrpSpPr/>
          <p:nvPr/>
        </p:nvGrpSpPr>
        <p:grpSpPr>
          <a:xfrm rot="0">
            <a:off x="10016364" y="6889668"/>
            <a:ext cx="7428904" cy="2521963"/>
            <a:chOff x="0" y="0"/>
            <a:chExt cx="9905205" cy="3362618"/>
          </a:xfrm>
        </p:grpSpPr>
        <p:grpSp>
          <p:nvGrpSpPr>
            <p:cNvPr name="Group 5" id="5"/>
            <p:cNvGrpSpPr/>
            <p:nvPr/>
          </p:nvGrpSpPr>
          <p:grpSpPr>
            <a:xfrm rot="0">
              <a:off x="0" y="0"/>
              <a:ext cx="9905205" cy="3362618"/>
              <a:chOff x="0" y="0"/>
              <a:chExt cx="1956584" cy="664221"/>
            </a:xfrm>
          </p:grpSpPr>
          <p:sp>
            <p:nvSpPr>
              <p:cNvPr name="Freeform 6" id="6"/>
              <p:cNvSpPr/>
              <p:nvPr/>
            </p:nvSpPr>
            <p:spPr>
              <a:xfrm flipH="false" flipV="false" rot="0">
                <a:off x="0" y="0"/>
                <a:ext cx="1956584" cy="664221"/>
              </a:xfrm>
              <a:custGeom>
                <a:avLst/>
                <a:gdLst/>
                <a:ahLst/>
                <a:cxnLst/>
                <a:rect r="r" b="b" t="t" l="l"/>
                <a:pathLst>
                  <a:path h="664221" w="1956584">
                    <a:moveTo>
                      <a:pt x="68781" y="0"/>
                    </a:moveTo>
                    <a:lnTo>
                      <a:pt x="1887803" y="0"/>
                    </a:lnTo>
                    <a:cubicBezTo>
                      <a:pt x="1925790" y="0"/>
                      <a:pt x="1956584" y="30794"/>
                      <a:pt x="1956584" y="68781"/>
                    </a:cubicBezTo>
                    <a:lnTo>
                      <a:pt x="1956584" y="595440"/>
                    </a:lnTo>
                    <a:cubicBezTo>
                      <a:pt x="1956584" y="633427"/>
                      <a:pt x="1925790" y="664221"/>
                      <a:pt x="1887803" y="664221"/>
                    </a:cubicBezTo>
                    <a:lnTo>
                      <a:pt x="68781" y="664221"/>
                    </a:lnTo>
                    <a:cubicBezTo>
                      <a:pt x="30794" y="664221"/>
                      <a:pt x="0" y="633427"/>
                      <a:pt x="0" y="595440"/>
                    </a:cubicBezTo>
                    <a:lnTo>
                      <a:pt x="0" y="68781"/>
                    </a:lnTo>
                    <a:cubicBezTo>
                      <a:pt x="0" y="30794"/>
                      <a:pt x="30794" y="0"/>
                      <a:pt x="68781" y="0"/>
                    </a:cubicBezTo>
                    <a:close/>
                  </a:path>
                </a:pathLst>
              </a:custGeom>
              <a:solidFill>
                <a:srgbClr val="FFFFFF"/>
              </a:solidFill>
              <a:ln w="19050" cap="rnd">
                <a:solidFill>
                  <a:srgbClr val="424242"/>
                </a:solidFill>
                <a:prstDash val="solid"/>
                <a:round/>
              </a:ln>
            </p:spPr>
          </p:sp>
          <p:sp>
            <p:nvSpPr>
              <p:cNvPr name="TextBox 7" id="7"/>
              <p:cNvSpPr txBox="true"/>
              <p:nvPr/>
            </p:nvSpPr>
            <p:spPr>
              <a:xfrm>
                <a:off x="0" y="-28575"/>
                <a:ext cx="1956584" cy="692796"/>
              </a:xfrm>
              <a:prstGeom prst="rect">
                <a:avLst/>
              </a:prstGeom>
            </p:spPr>
            <p:txBody>
              <a:bodyPr anchor="ctr" rtlCol="false" tIns="50800" lIns="50800" bIns="50800" rIns="50800"/>
              <a:lstStyle/>
              <a:p>
                <a:pPr algn="ctr">
                  <a:lnSpc>
                    <a:spcPts val="2015"/>
                  </a:lnSpc>
                </a:pPr>
              </a:p>
            </p:txBody>
          </p:sp>
        </p:grpSp>
        <p:grpSp>
          <p:nvGrpSpPr>
            <p:cNvPr name="Group 8" id="8"/>
            <p:cNvGrpSpPr/>
            <p:nvPr/>
          </p:nvGrpSpPr>
          <p:grpSpPr>
            <a:xfrm rot="0">
              <a:off x="439168" y="304800"/>
              <a:ext cx="1538935" cy="1072477"/>
              <a:chOff x="0" y="0"/>
              <a:chExt cx="303987" cy="211847"/>
            </a:xfrm>
          </p:grpSpPr>
          <p:sp>
            <p:nvSpPr>
              <p:cNvPr name="Freeform 9" id="9"/>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0" id="10"/>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1" id="11"/>
            <p:cNvSpPr txBox="true"/>
            <p:nvPr/>
          </p:nvSpPr>
          <p:spPr>
            <a:xfrm rot="0">
              <a:off x="641786" y="577649"/>
              <a:ext cx="1092699" cy="634746"/>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12" id="12"/>
            <p:cNvSpPr txBox="true"/>
            <p:nvPr/>
          </p:nvSpPr>
          <p:spPr>
            <a:xfrm rot="0">
              <a:off x="2421638" y="545890"/>
              <a:ext cx="6420458" cy="12062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SSRS Paginated Reports</a:t>
              </a:r>
            </a:p>
          </p:txBody>
        </p:sp>
        <p:sp>
          <p:nvSpPr>
            <p:cNvPr name="TextBox 13" id="13"/>
            <p:cNvSpPr txBox="true"/>
            <p:nvPr/>
          </p:nvSpPr>
          <p:spPr>
            <a:xfrm rot="0">
              <a:off x="1978103" y="1939461"/>
              <a:ext cx="6863993" cy="9717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6 structured compliance-grade reports for</a:t>
              </a:r>
              <a:r>
                <a:rPr lang="en-US" sz="1400" spc="-65" b="true">
                  <a:solidFill>
                    <a:srgbClr val="424242"/>
                  </a:solidFill>
                  <a:latin typeface="Open Sauce Bold"/>
                  <a:ea typeface="Open Sauce Bold"/>
                  <a:cs typeface="Open Sauce Bold"/>
                  <a:sym typeface="Open Sauce Bold"/>
                </a:rPr>
                <a:t> </a:t>
              </a:r>
              <a:r>
                <a:rPr lang="en-US" sz="1400" spc="-65">
                  <a:solidFill>
                    <a:srgbClr val="424242"/>
                  </a:solidFill>
                  <a:latin typeface="Open Sauce"/>
                  <a:ea typeface="Open Sauce"/>
                  <a:cs typeface="Open Sauce"/>
                  <a:sym typeface="Open Sauce"/>
                </a:rPr>
                <a:t>managing the daily operational workflow, auditing supply chain transactions, and securing end-to-end documentation traceability</a:t>
              </a:r>
            </a:p>
          </p:txBody>
        </p:sp>
      </p:grpSp>
      <p:grpSp>
        <p:nvGrpSpPr>
          <p:cNvPr name="Group 14" id="14"/>
          <p:cNvGrpSpPr/>
          <p:nvPr/>
        </p:nvGrpSpPr>
        <p:grpSpPr>
          <a:xfrm rot="0">
            <a:off x="901975" y="4215500"/>
            <a:ext cx="7428904" cy="2273124"/>
            <a:chOff x="0" y="0"/>
            <a:chExt cx="9905205" cy="3030831"/>
          </a:xfrm>
        </p:grpSpPr>
        <p:grpSp>
          <p:nvGrpSpPr>
            <p:cNvPr name="Group 15" id="15"/>
            <p:cNvGrpSpPr/>
            <p:nvPr/>
          </p:nvGrpSpPr>
          <p:grpSpPr>
            <a:xfrm rot="0">
              <a:off x="0" y="0"/>
              <a:ext cx="9905205" cy="3030831"/>
              <a:chOff x="0" y="0"/>
              <a:chExt cx="1956584" cy="598683"/>
            </a:xfrm>
          </p:grpSpPr>
          <p:sp>
            <p:nvSpPr>
              <p:cNvPr name="Freeform 16" id="16"/>
              <p:cNvSpPr/>
              <p:nvPr/>
            </p:nvSpPr>
            <p:spPr>
              <a:xfrm flipH="false" flipV="false" rot="0">
                <a:off x="0" y="0"/>
                <a:ext cx="1956584" cy="598683"/>
              </a:xfrm>
              <a:custGeom>
                <a:avLst/>
                <a:gdLst/>
                <a:ahLst/>
                <a:cxnLst/>
                <a:rect r="r" b="b" t="t" l="l"/>
                <a:pathLst>
                  <a:path h="598683" w="1956584">
                    <a:moveTo>
                      <a:pt x="68781" y="0"/>
                    </a:moveTo>
                    <a:lnTo>
                      <a:pt x="1887803" y="0"/>
                    </a:lnTo>
                    <a:cubicBezTo>
                      <a:pt x="1925790" y="0"/>
                      <a:pt x="1956584" y="30794"/>
                      <a:pt x="1956584" y="68781"/>
                    </a:cubicBezTo>
                    <a:lnTo>
                      <a:pt x="1956584" y="529902"/>
                    </a:lnTo>
                    <a:cubicBezTo>
                      <a:pt x="1956584" y="548144"/>
                      <a:pt x="1949337" y="565638"/>
                      <a:pt x="1936438" y="578537"/>
                    </a:cubicBezTo>
                    <a:cubicBezTo>
                      <a:pt x="1923540" y="591436"/>
                      <a:pt x="1906045" y="598683"/>
                      <a:pt x="1887803" y="598683"/>
                    </a:cubicBezTo>
                    <a:lnTo>
                      <a:pt x="68781" y="598683"/>
                    </a:lnTo>
                    <a:cubicBezTo>
                      <a:pt x="30794" y="598683"/>
                      <a:pt x="0" y="567888"/>
                      <a:pt x="0" y="529902"/>
                    </a:cubicBezTo>
                    <a:lnTo>
                      <a:pt x="0" y="68781"/>
                    </a:lnTo>
                    <a:cubicBezTo>
                      <a:pt x="0" y="30794"/>
                      <a:pt x="30794" y="0"/>
                      <a:pt x="68781" y="0"/>
                    </a:cubicBezTo>
                    <a:close/>
                  </a:path>
                </a:pathLst>
              </a:custGeom>
              <a:solidFill>
                <a:srgbClr val="FFFFFF"/>
              </a:solidFill>
              <a:ln w="19050" cap="rnd">
                <a:solidFill>
                  <a:srgbClr val="424242"/>
                </a:solidFill>
                <a:prstDash val="solid"/>
                <a:round/>
              </a:ln>
            </p:spPr>
          </p:sp>
          <p:sp>
            <p:nvSpPr>
              <p:cNvPr name="TextBox 17" id="17"/>
              <p:cNvSpPr txBox="true"/>
              <p:nvPr/>
            </p:nvSpPr>
            <p:spPr>
              <a:xfrm>
                <a:off x="0" y="-28575"/>
                <a:ext cx="1956584" cy="627258"/>
              </a:xfrm>
              <a:prstGeom prst="rect">
                <a:avLst/>
              </a:prstGeom>
            </p:spPr>
            <p:txBody>
              <a:bodyPr anchor="ctr" rtlCol="false" tIns="50800" lIns="50800" bIns="50800" rIns="50800"/>
              <a:lstStyle/>
              <a:p>
                <a:pPr algn="ctr">
                  <a:lnSpc>
                    <a:spcPts val="2015"/>
                  </a:lnSpc>
                </a:pPr>
              </a:p>
            </p:txBody>
          </p:sp>
        </p:grpSp>
        <p:grpSp>
          <p:nvGrpSpPr>
            <p:cNvPr name="Group 18" id="18"/>
            <p:cNvGrpSpPr/>
            <p:nvPr/>
          </p:nvGrpSpPr>
          <p:grpSpPr>
            <a:xfrm rot="0">
              <a:off x="366821" y="259045"/>
              <a:ext cx="1538935" cy="1072477"/>
              <a:chOff x="0" y="0"/>
              <a:chExt cx="303987" cy="211847"/>
            </a:xfrm>
          </p:grpSpPr>
          <p:sp>
            <p:nvSpPr>
              <p:cNvPr name="Freeform 19" id="19"/>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0" id="20"/>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21" id="21"/>
            <p:cNvSpPr txBox="true"/>
            <p:nvPr/>
          </p:nvSpPr>
          <p:spPr>
            <a:xfrm rot="0">
              <a:off x="569439" y="531894"/>
              <a:ext cx="1092699" cy="634746"/>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22" id="22"/>
            <p:cNvSpPr txBox="true"/>
            <p:nvPr/>
          </p:nvSpPr>
          <p:spPr>
            <a:xfrm rot="0">
              <a:off x="2349291" y="500136"/>
              <a:ext cx="6420458" cy="6347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Unified Data Hub</a:t>
              </a:r>
            </a:p>
          </p:txBody>
        </p:sp>
        <p:sp>
          <p:nvSpPr>
            <p:cNvPr name="TextBox 23" id="23"/>
            <p:cNvSpPr txBox="true"/>
            <p:nvPr/>
          </p:nvSpPr>
          <p:spPr>
            <a:xfrm rot="0">
              <a:off x="2349291" y="1436564"/>
              <a:ext cx="6420458" cy="6415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All modules (Procurement, Production, Warehouse, Fleet, Sales) connected to a single Azure SQL database.</a:t>
              </a:r>
            </a:p>
          </p:txBody>
        </p:sp>
      </p:grpSp>
      <p:grpSp>
        <p:nvGrpSpPr>
          <p:cNvPr name="Group 24" id="24"/>
          <p:cNvGrpSpPr/>
          <p:nvPr/>
        </p:nvGrpSpPr>
        <p:grpSpPr>
          <a:xfrm rot="0">
            <a:off x="8784269" y="4215500"/>
            <a:ext cx="7428904" cy="2483668"/>
            <a:chOff x="0" y="0"/>
            <a:chExt cx="9905205" cy="3311558"/>
          </a:xfrm>
        </p:grpSpPr>
        <p:grpSp>
          <p:nvGrpSpPr>
            <p:cNvPr name="Group 25" id="25"/>
            <p:cNvGrpSpPr/>
            <p:nvPr/>
          </p:nvGrpSpPr>
          <p:grpSpPr>
            <a:xfrm rot="0">
              <a:off x="0" y="0"/>
              <a:ext cx="9905205" cy="3311558"/>
              <a:chOff x="0" y="0"/>
              <a:chExt cx="1956584" cy="654135"/>
            </a:xfrm>
          </p:grpSpPr>
          <p:sp>
            <p:nvSpPr>
              <p:cNvPr name="Freeform 26" id="26"/>
              <p:cNvSpPr/>
              <p:nvPr/>
            </p:nvSpPr>
            <p:spPr>
              <a:xfrm flipH="false" flipV="false" rot="0">
                <a:off x="0" y="0"/>
                <a:ext cx="1956584" cy="654135"/>
              </a:xfrm>
              <a:custGeom>
                <a:avLst/>
                <a:gdLst/>
                <a:ahLst/>
                <a:cxnLst/>
                <a:rect r="r" b="b" t="t" l="l"/>
                <a:pathLst>
                  <a:path h="654135" w="1956584">
                    <a:moveTo>
                      <a:pt x="68781" y="0"/>
                    </a:moveTo>
                    <a:lnTo>
                      <a:pt x="1887803" y="0"/>
                    </a:lnTo>
                    <a:cubicBezTo>
                      <a:pt x="1925790" y="0"/>
                      <a:pt x="1956584" y="30794"/>
                      <a:pt x="1956584" y="68781"/>
                    </a:cubicBezTo>
                    <a:lnTo>
                      <a:pt x="1956584" y="585354"/>
                    </a:lnTo>
                    <a:cubicBezTo>
                      <a:pt x="1956584" y="603596"/>
                      <a:pt x="1949337" y="621090"/>
                      <a:pt x="1936438" y="633989"/>
                    </a:cubicBezTo>
                    <a:cubicBezTo>
                      <a:pt x="1923540" y="646888"/>
                      <a:pt x="1906045" y="654135"/>
                      <a:pt x="1887803" y="654135"/>
                    </a:cubicBezTo>
                    <a:lnTo>
                      <a:pt x="68781" y="654135"/>
                    </a:lnTo>
                    <a:cubicBezTo>
                      <a:pt x="30794" y="654135"/>
                      <a:pt x="0" y="623341"/>
                      <a:pt x="0" y="585354"/>
                    </a:cubicBezTo>
                    <a:lnTo>
                      <a:pt x="0" y="68781"/>
                    </a:lnTo>
                    <a:cubicBezTo>
                      <a:pt x="0" y="30794"/>
                      <a:pt x="30794" y="0"/>
                      <a:pt x="68781" y="0"/>
                    </a:cubicBezTo>
                    <a:close/>
                  </a:path>
                </a:pathLst>
              </a:custGeom>
              <a:solidFill>
                <a:srgbClr val="F3F3F3"/>
              </a:solidFill>
              <a:ln w="19050" cap="rnd">
                <a:solidFill>
                  <a:srgbClr val="424242"/>
                </a:solidFill>
                <a:prstDash val="solid"/>
                <a:round/>
              </a:ln>
            </p:spPr>
          </p:sp>
          <p:sp>
            <p:nvSpPr>
              <p:cNvPr name="TextBox 27" id="27"/>
              <p:cNvSpPr txBox="true"/>
              <p:nvPr/>
            </p:nvSpPr>
            <p:spPr>
              <a:xfrm>
                <a:off x="0" y="-28575"/>
                <a:ext cx="1956584" cy="682710"/>
              </a:xfrm>
              <a:prstGeom prst="rect">
                <a:avLst/>
              </a:prstGeom>
            </p:spPr>
            <p:txBody>
              <a:bodyPr anchor="ctr" rtlCol="false" tIns="50800" lIns="50800" bIns="50800" rIns="50800"/>
              <a:lstStyle/>
              <a:p>
                <a:pPr algn="ctr">
                  <a:lnSpc>
                    <a:spcPts val="2015"/>
                  </a:lnSpc>
                </a:pPr>
              </a:p>
            </p:txBody>
          </p:sp>
        </p:grpSp>
        <p:grpSp>
          <p:nvGrpSpPr>
            <p:cNvPr name="Group 28" id="28"/>
            <p:cNvGrpSpPr/>
            <p:nvPr/>
          </p:nvGrpSpPr>
          <p:grpSpPr>
            <a:xfrm rot="0">
              <a:off x="370408" y="259045"/>
              <a:ext cx="1538935" cy="1072477"/>
              <a:chOff x="0" y="0"/>
              <a:chExt cx="303987" cy="211847"/>
            </a:xfrm>
          </p:grpSpPr>
          <p:sp>
            <p:nvSpPr>
              <p:cNvPr name="Freeform 29" id="29"/>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30" id="30"/>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31" id="31"/>
            <p:cNvSpPr txBox="true"/>
            <p:nvPr/>
          </p:nvSpPr>
          <p:spPr>
            <a:xfrm rot="0">
              <a:off x="573026" y="531894"/>
              <a:ext cx="1092699" cy="634746"/>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32" id="32"/>
            <p:cNvSpPr txBox="true"/>
            <p:nvPr/>
          </p:nvSpPr>
          <p:spPr>
            <a:xfrm rot="0">
              <a:off x="2352878" y="500136"/>
              <a:ext cx="6420458" cy="6347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Real-Time BI</a:t>
              </a:r>
            </a:p>
          </p:txBody>
        </p:sp>
        <p:sp>
          <p:nvSpPr>
            <p:cNvPr name="TextBox 33" id="33"/>
            <p:cNvSpPr txBox="true"/>
            <p:nvPr/>
          </p:nvSpPr>
          <p:spPr>
            <a:xfrm rot="0">
              <a:off x="2352878" y="1436564"/>
              <a:ext cx="6420458" cy="6415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20 Power BI dashboards providing live KPIs, heatmaps, and drill-through analytics.</a:t>
              </a:r>
            </a:p>
          </p:txBody>
        </p:sp>
      </p:grpSp>
      <p:grpSp>
        <p:nvGrpSpPr>
          <p:cNvPr name="Group 34" id="34"/>
          <p:cNvGrpSpPr/>
          <p:nvPr/>
        </p:nvGrpSpPr>
        <p:grpSpPr>
          <a:xfrm rot="0">
            <a:off x="2134070" y="6889668"/>
            <a:ext cx="7428904" cy="2183417"/>
            <a:chOff x="0" y="0"/>
            <a:chExt cx="9905205" cy="2911223"/>
          </a:xfrm>
        </p:grpSpPr>
        <p:grpSp>
          <p:nvGrpSpPr>
            <p:cNvPr name="Group 35" id="35"/>
            <p:cNvGrpSpPr/>
            <p:nvPr/>
          </p:nvGrpSpPr>
          <p:grpSpPr>
            <a:xfrm rot="0">
              <a:off x="0" y="0"/>
              <a:ext cx="9905205" cy="2911223"/>
              <a:chOff x="0" y="0"/>
              <a:chExt cx="1956584" cy="575056"/>
            </a:xfrm>
          </p:grpSpPr>
          <p:sp>
            <p:nvSpPr>
              <p:cNvPr name="Freeform 36" id="36"/>
              <p:cNvSpPr/>
              <p:nvPr/>
            </p:nvSpPr>
            <p:spPr>
              <a:xfrm flipH="false" flipV="false" rot="0">
                <a:off x="0" y="0"/>
                <a:ext cx="1956584" cy="575056"/>
              </a:xfrm>
              <a:custGeom>
                <a:avLst/>
                <a:gdLst/>
                <a:ahLst/>
                <a:cxnLst/>
                <a:rect r="r" b="b" t="t" l="l"/>
                <a:pathLst>
                  <a:path h="575056" w="1956584">
                    <a:moveTo>
                      <a:pt x="68781" y="0"/>
                    </a:moveTo>
                    <a:lnTo>
                      <a:pt x="1887803" y="0"/>
                    </a:lnTo>
                    <a:cubicBezTo>
                      <a:pt x="1925790" y="0"/>
                      <a:pt x="1956584" y="30794"/>
                      <a:pt x="1956584" y="68781"/>
                    </a:cubicBezTo>
                    <a:lnTo>
                      <a:pt x="1956584" y="506275"/>
                    </a:lnTo>
                    <a:cubicBezTo>
                      <a:pt x="1956584" y="524517"/>
                      <a:pt x="1949337" y="542012"/>
                      <a:pt x="1936438" y="554911"/>
                    </a:cubicBezTo>
                    <a:cubicBezTo>
                      <a:pt x="1923540" y="567810"/>
                      <a:pt x="1906045" y="575056"/>
                      <a:pt x="1887803" y="575056"/>
                    </a:cubicBezTo>
                    <a:lnTo>
                      <a:pt x="68781" y="575056"/>
                    </a:lnTo>
                    <a:cubicBezTo>
                      <a:pt x="30794" y="575056"/>
                      <a:pt x="0" y="544262"/>
                      <a:pt x="0" y="506275"/>
                    </a:cubicBezTo>
                    <a:lnTo>
                      <a:pt x="0" y="68781"/>
                    </a:lnTo>
                    <a:cubicBezTo>
                      <a:pt x="0" y="30794"/>
                      <a:pt x="30794" y="0"/>
                      <a:pt x="68781" y="0"/>
                    </a:cubicBezTo>
                    <a:close/>
                  </a:path>
                </a:pathLst>
              </a:custGeom>
              <a:solidFill>
                <a:srgbClr val="F3F3F3"/>
              </a:solidFill>
              <a:ln w="19050" cap="rnd">
                <a:solidFill>
                  <a:srgbClr val="424242"/>
                </a:solidFill>
                <a:prstDash val="solid"/>
                <a:round/>
              </a:ln>
            </p:spPr>
          </p:sp>
          <p:sp>
            <p:nvSpPr>
              <p:cNvPr name="TextBox 37" id="37"/>
              <p:cNvSpPr txBox="true"/>
              <p:nvPr/>
            </p:nvSpPr>
            <p:spPr>
              <a:xfrm>
                <a:off x="0" y="-28575"/>
                <a:ext cx="1956584" cy="603631"/>
              </a:xfrm>
              <a:prstGeom prst="rect">
                <a:avLst/>
              </a:prstGeom>
            </p:spPr>
            <p:txBody>
              <a:bodyPr anchor="ctr" rtlCol="false" tIns="50800" lIns="50800" bIns="50800" rIns="50800"/>
              <a:lstStyle/>
              <a:p>
                <a:pPr algn="ctr">
                  <a:lnSpc>
                    <a:spcPts val="2015"/>
                  </a:lnSpc>
                </a:pPr>
              </a:p>
            </p:txBody>
          </p:sp>
        </p:grpSp>
        <p:grpSp>
          <p:nvGrpSpPr>
            <p:cNvPr name="Group 38" id="38"/>
            <p:cNvGrpSpPr/>
            <p:nvPr/>
          </p:nvGrpSpPr>
          <p:grpSpPr>
            <a:xfrm rot="0">
              <a:off x="464004" y="304800"/>
              <a:ext cx="1538935" cy="1072477"/>
              <a:chOff x="0" y="0"/>
              <a:chExt cx="303987" cy="211847"/>
            </a:xfrm>
          </p:grpSpPr>
          <p:sp>
            <p:nvSpPr>
              <p:cNvPr name="Freeform 39" id="39"/>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40" id="40"/>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41" id="41"/>
            <p:cNvSpPr txBox="true"/>
            <p:nvPr/>
          </p:nvSpPr>
          <p:spPr>
            <a:xfrm rot="0">
              <a:off x="666622" y="577649"/>
              <a:ext cx="1092699" cy="634746"/>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42" id="42"/>
            <p:cNvSpPr txBox="true"/>
            <p:nvPr/>
          </p:nvSpPr>
          <p:spPr>
            <a:xfrm rot="0">
              <a:off x="2446474" y="545890"/>
              <a:ext cx="6420458" cy="6347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AI-Driven Automation</a:t>
              </a:r>
            </a:p>
          </p:txBody>
        </p:sp>
        <p:sp>
          <p:nvSpPr>
            <p:cNvPr name="TextBox 43" id="43"/>
            <p:cNvSpPr txBox="true"/>
            <p:nvPr/>
          </p:nvSpPr>
          <p:spPr>
            <a:xfrm rot="0">
              <a:off x="2446474" y="1482318"/>
              <a:ext cx="6420458" cy="9717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GPT-4o agents autonomously detect high-risk events and generate mitigation workflows.</a:t>
              </a:r>
            </a:p>
            <a:p>
              <a:pPr algn="l">
                <a:lnSpc>
                  <a:spcPts val="1960"/>
                </a:lnSpc>
              </a:pPr>
            </a:p>
          </p:txBody>
        </p:sp>
      </p:grpSp>
      <p:sp>
        <p:nvSpPr>
          <p:cNvPr name="AutoShape 44" id="44"/>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5" id="45"/>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46" id="46"/>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7" y="6179939"/>
            <a:ext cx="6513848" cy="178272"/>
            <a:chOff x="0" y="0"/>
            <a:chExt cx="1715581" cy="46952"/>
          </a:xfrm>
        </p:grpSpPr>
        <p:sp>
          <p:nvSpPr>
            <p:cNvPr name="Freeform 4" id="4"/>
            <p:cNvSpPr/>
            <p:nvPr/>
          </p:nvSpPr>
          <p:spPr>
            <a:xfrm flipH="false" flipV="false" rot="0">
              <a:off x="0" y="0"/>
              <a:ext cx="1715581" cy="46952"/>
            </a:xfrm>
            <a:custGeom>
              <a:avLst/>
              <a:gdLst/>
              <a:ahLst/>
              <a:cxnLst/>
              <a:rect r="r" b="b" t="t" l="l"/>
              <a:pathLst>
                <a:path h="46952" w="1715581">
                  <a:moveTo>
                    <a:pt x="0" y="0"/>
                  </a:moveTo>
                  <a:lnTo>
                    <a:pt x="1715581" y="0"/>
                  </a:lnTo>
                  <a:lnTo>
                    <a:pt x="1715581" y="46952"/>
                  </a:lnTo>
                  <a:lnTo>
                    <a:pt x="0" y="46952"/>
                  </a:lnTo>
                  <a:close/>
                </a:path>
              </a:pathLst>
            </a:custGeom>
            <a:solidFill>
              <a:srgbClr val="004AAD"/>
            </a:solidFill>
          </p:spPr>
        </p:sp>
        <p:sp>
          <p:nvSpPr>
            <p:cNvPr name="TextBox 5" id="5"/>
            <p:cNvSpPr txBox="true"/>
            <p:nvPr/>
          </p:nvSpPr>
          <p:spPr>
            <a:xfrm>
              <a:off x="0" y="-47625"/>
              <a:ext cx="1715581" cy="9457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19183" y="1373442"/>
            <a:ext cx="7540117" cy="7540117"/>
          </a:xfrm>
          <a:custGeom>
            <a:avLst/>
            <a:gdLst/>
            <a:ahLst/>
            <a:cxnLst/>
            <a:rect r="r" b="b" t="t" l="l"/>
            <a:pathLst>
              <a:path h="7540117" w="7540117">
                <a:moveTo>
                  <a:pt x="0" y="0"/>
                </a:moveTo>
                <a:lnTo>
                  <a:pt x="7540117" y="0"/>
                </a:lnTo>
                <a:lnTo>
                  <a:pt x="7540117" y="7540116"/>
                </a:lnTo>
                <a:lnTo>
                  <a:pt x="0" y="7540116"/>
                </a:lnTo>
                <a:lnTo>
                  <a:pt x="0" y="0"/>
                </a:lnTo>
                <a:close/>
              </a:path>
            </a:pathLst>
          </a:custGeom>
          <a:blipFill>
            <a:blip r:embed="rId3"/>
            <a:stretch>
              <a:fillRect l="0" t="0" r="0" b="0"/>
            </a:stretch>
          </a:blipFill>
        </p:spPr>
      </p:sp>
      <p:sp>
        <p:nvSpPr>
          <p:cNvPr name="TextBox 7" id="7"/>
          <p:cNvSpPr txBox="true"/>
          <p:nvPr/>
        </p:nvSpPr>
        <p:spPr>
          <a:xfrm rot="0">
            <a:off x="1548527" y="4444155"/>
            <a:ext cx="6513848" cy="886880"/>
          </a:xfrm>
          <a:prstGeom prst="rect">
            <a:avLst/>
          </a:prstGeom>
        </p:spPr>
        <p:txBody>
          <a:bodyPr anchor="t" rtlCol="false" tIns="0" lIns="0" bIns="0" rIns="0">
            <a:spAutoFit/>
          </a:bodyPr>
          <a:lstStyle/>
          <a:p>
            <a:pPr algn="l">
              <a:lnSpc>
                <a:spcPts val="7291"/>
              </a:lnSpc>
            </a:pPr>
            <a:r>
              <a:rPr lang="en-US" b="true" sz="5208">
                <a:solidFill>
                  <a:srgbClr val="004AAD"/>
                </a:solidFill>
                <a:latin typeface="League Spartan"/>
                <a:ea typeface="League Spartan"/>
                <a:cs typeface="League Spartan"/>
                <a:sym typeface="League Spartan"/>
              </a:rPr>
              <a:t>DATABASE DESIGN</a:t>
            </a:r>
          </a:p>
        </p:txBody>
      </p:sp>
      <p:sp>
        <p:nvSpPr>
          <p:cNvPr name="AutoShape 8" id="8"/>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9" id="9"/>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4"/>
            <a:stretch>
              <a:fillRect l="0" t="0" r="0" b="0"/>
            </a:stretch>
          </a:blipFill>
        </p:spPr>
      </p:sp>
      <p:sp>
        <p:nvSpPr>
          <p:cNvPr name="Freeform 10" id="10"/>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1616395" y="1937376"/>
            <a:ext cx="15055209" cy="8076492"/>
          </a:xfrm>
          <a:custGeom>
            <a:avLst/>
            <a:gdLst/>
            <a:ahLst/>
            <a:cxnLst/>
            <a:rect r="r" b="b" t="t" l="l"/>
            <a:pathLst>
              <a:path h="8076492" w="15055209">
                <a:moveTo>
                  <a:pt x="0" y="0"/>
                </a:moveTo>
                <a:lnTo>
                  <a:pt x="15055210" y="0"/>
                </a:lnTo>
                <a:lnTo>
                  <a:pt x="15055210" y="8076492"/>
                </a:lnTo>
                <a:lnTo>
                  <a:pt x="0" y="8076492"/>
                </a:lnTo>
                <a:lnTo>
                  <a:pt x="0" y="0"/>
                </a:lnTo>
                <a:close/>
              </a:path>
            </a:pathLst>
          </a:custGeom>
          <a:blipFill>
            <a:blip r:embed="rId5"/>
            <a:stretch>
              <a:fillRect l="-8" t="0" r="-8"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7" y="6179939"/>
            <a:ext cx="6513848" cy="178272"/>
            <a:chOff x="0" y="0"/>
            <a:chExt cx="1715581" cy="46952"/>
          </a:xfrm>
        </p:grpSpPr>
        <p:sp>
          <p:nvSpPr>
            <p:cNvPr name="Freeform 4" id="4"/>
            <p:cNvSpPr/>
            <p:nvPr/>
          </p:nvSpPr>
          <p:spPr>
            <a:xfrm flipH="false" flipV="false" rot="0">
              <a:off x="0" y="0"/>
              <a:ext cx="1715581" cy="46952"/>
            </a:xfrm>
            <a:custGeom>
              <a:avLst/>
              <a:gdLst/>
              <a:ahLst/>
              <a:cxnLst/>
              <a:rect r="r" b="b" t="t" l="l"/>
              <a:pathLst>
                <a:path h="46952" w="1715581">
                  <a:moveTo>
                    <a:pt x="0" y="0"/>
                  </a:moveTo>
                  <a:lnTo>
                    <a:pt x="1715581" y="0"/>
                  </a:lnTo>
                  <a:lnTo>
                    <a:pt x="1715581" y="46952"/>
                  </a:lnTo>
                  <a:lnTo>
                    <a:pt x="0" y="46952"/>
                  </a:lnTo>
                  <a:close/>
                </a:path>
              </a:pathLst>
            </a:custGeom>
            <a:solidFill>
              <a:srgbClr val="004AAD"/>
            </a:solidFill>
          </p:spPr>
        </p:sp>
        <p:sp>
          <p:nvSpPr>
            <p:cNvPr name="TextBox 5" id="5"/>
            <p:cNvSpPr txBox="true"/>
            <p:nvPr/>
          </p:nvSpPr>
          <p:spPr>
            <a:xfrm>
              <a:off x="0" y="-47625"/>
              <a:ext cx="1715581" cy="9457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94569" y="2193569"/>
            <a:ext cx="7064731" cy="7064731"/>
          </a:xfrm>
          <a:custGeom>
            <a:avLst/>
            <a:gdLst/>
            <a:ahLst/>
            <a:cxnLst/>
            <a:rect r="r" b="b" t="t" l="l"/>
            <a:pathLst>
              <a:path h="7064731" w="7064731">
                <a:moveTo>
                  <a:pt x="0" y="0"/>
                </a:moveTo>
                <a:lnTo>
                  <a:pt x="7064731" y="0"/>
                </a:lnTo>
                <a:lnTo>
                  <a:pt x="7064731" y="7064731"/>
                </a:lnTo>
                <a:lnTo>
                  <a:pt x="0" y="7064731"/>
                </a:lnTo>
                <a:lnTo>
                  <a:pt x="0" y="0"/>
                </a:lnTo>
                <a:close/>
              </a:path>
            </a:pathLst>
          </a:custGeom>
          <a:blipFill>
            <a:blip r:embed="rId3"/>
            <a:stretch>
              <a:fillRect l="0" t="0" r="0" b="0"/>
            </a:stretch>
          </a:blipFill>
        </p:spPr>
      </p:sp>
      <p:sp>
        <p:nvSpPr>
          <p:cNvPr name="TextBox 7" id="7"/>
          <p:cNvSpPr txBox="true"/>
          <p:nvPr/>
        </p:nvSpPr>
        <p:spPr>
          <a:xfrm rot="0">
            <a:off x="1548527" y="4453680"/>
            <a:ext cx="6513848" cy="754800"/>
          </a:xfrm>
          <a:prstGeom prst="rect">
            <a:avLst/>
          </a:prstGeom>
        </p:spPr>
        <p:txBody>
          <a:bodyPr anchor="t" rtlCol="false" tIns="0" lIns="0" bIns="0" rIns="0">
            <a:spAutoFit/>
          </a:bodyPr>
          <a:lstStyle/>
          <a:p>
            <a:pPr algn="l">
              <a:lnSpc>
                <a:spcPts val="6171"/>
              </a:lnSpc>
            </a:pPr>
            <a:r>
              <a:rPr lang="en-US" b="true" sz="4408">
                <a:solidFill>
                  <a:srgbClr val="004AAD"/>
                </a:solidFill>
                <a:latin typeface="League Spartan"/>
                <a:ea typeface="League Spartan"/>
                <a:cs typeface="League Spartan"/>
                <a:sym typeface="League Spartan"/>
              </a:rPr>
              <a:t>STORED PROCEDURES</a:t>
            </a:r>
          </a:p>
        </p:txBody>
      </p:sp>
      <p:sp>
        <p:nvSpPr>
          <p:cNvPr name="AutoShape 8" id="8"/>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9" id="9"/>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4"/>
            <a:stretch>
              <a:fillRect l="0" t="0" r="0" b="0"/>
            </a:stretch>
          </a:blipFill>
        </p:spPr>
      </p:sp>
      <p:sp>
        <p:nvSpPr>
          <p:cNvPr name="Freeform 10" id="10"/>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3802078" y="2303460"/>
            <a:ext cx="13457222" cy="7219239"/>
          </a:xfrm>
          <a:custGeom>
            <a:avLst/>
            <a:gdLst/>
            <a:ahLst/>
            <a:cxnLst/>
            <a:rect r="r" b="b" t="t" l="l"/>
            <a:pathLst>
              <a:path h="7219239" w="13457222">
                <a:moveTo>
                  <a:pt x="0" y="0"/>
                </a:moveTo>
                <a:lnTo>
                  <a:pt x="13457222" y="0"/>
                </a:lnTo>
                <a:lnTo>
                  <a:pt x="13457222" y="7219239"/>
                </a:lnTo>
                <a:lnTo>
                  <a:pt x="0" y="7219239"/>
                </a:lnTo>
                <a:lnTo>
                  <a:pt x="0" y="0"/>
                </a:lnTo>
                <a:close/>
              </a:path>
            </a:pathLst>
          </a:custGeom>
          <a:blipFill>
            <a:blip r:embed="rId5"/>
            <a:stretch>
              <a:fillRect l="0" t="0" r="0" b="0"/>
            </a:stretch>
          </a:blipFill>
        </p:spPr>
      </p:sp>
      <p:grpSp>
        <p:nvGrpSpPr>
          <p:cNvPr name="Group 7" id="7"/>
          <p:cNvGrpSpPr/>
          <p:nvPr/>
        </p:nvGrpSpPr>
        <p:grpSpPr>
          <a:xfrm rot="0">
            <a:off x="1028700" y="5478037"/>
            <a:ext cx="2113273" cy="184217"/>
            <a:chOff x="0" y="0"/>
            <a:chExt cx="556582" cy="48518"/>
          </a:xfrm>
        </p:grpSpPr>
        <p:sp>
          <p:nvSpPr>
            <p:cNvPr name="Freeform 8" id="8"/>
            <p:cNvSpPr/>
            <p:nvPr/>
          </p:nvSpPr>
          <p:spPr>
            <a:xfrm flipH="false" flipV="false" rot="0">
              <a:off x="0" y="0"/>
              <a:ext cx="556582" cy="48518"/>
            </a:xfrm>
            <a:custGeom>
              <a:avLst/>
              <a:gdLst/>
              <a:ahLst/>
              <a:cxnLst/>
              <a:rect r="r" b="b" t="t" l="l"/>
              <a:pathLst>
                <a:path h="48518" w="556582">
                  <a:moveTo>
                    <a:pt x="0" y="0"/>
                  </a:moveTo>
                  <a:lnTo>
                    <a:pt x="556582" y="0"/>
                  </a:lnTo>
                  <a:lnTo>
                    <a:pt x="556582" y="48518"/>
                  </a:lnTo>
                  <a:lnTo>
                    <a:pt x="0" y="48518"/>
                  </a:lnTo>
                  <a:close/>
                </a:path>
              </a:pathLst>
            </a:custGeom>
            <a:solidFill>
              <a:srgbClr val="004AAD"/>
            </a:solidFill>
          </p:spPr>
        </p:sp>
        <p:sp>
          <p:nvSpPr>
            <p:cNvPr name="TextBox 9" id="9"/>
            <p:cNvSpPr txBox="true"/>
            <p:nvPr/>
          </p:nvSpPr>
          <p:spPr>
            <a:xfrm>
              <a:off x="0" y="-47625"/>
              <a:ext cx="556582" cy="9614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4723238"/>
            <a:ext cx="2113273" cy="754800"/>
          </a:xfrm>
          <a:prstGeom prst="rect">
            <a:avLst/>
          </a:prstGeom>
        </p:spPr>
        <p:txBody>
          <a:bodyPr anchor="t" rtlCol="false" tIns="0" lIns="0" bIns="0" rIns="0">
            <a:spAutoFit/>
          </a:bodyPr>
          <a:lstStyle/>
          <a:p>
            <a:pPr algn="l">
              <a:lnSpc>
                <a:spcPts val="6171"/>
              </a:lnSpc>
            </a:pPr>
            <a:r>
              <a:rPr lang="en-US" b="true" sz="4408">
                <a:solidFill>
                  <a:srgbClr val="004AAD"/>
                </a:solidFill>
                <a:latin typeface="League Spartan"/>
                <a:ea typeface="League Spartan"/>
                <a:cs typeface="League Spartan"/>
                <a:sym typeface="League Spartan"/>
              </a:rPr>
              <a:t>SELECT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3802078" y="2303460"/>
            <a:ext cx="13457222" cy="7219239"/>
          </a:xfrm>
          <a:custGeom>
            <a:avLst/>
            <a:gdLst/>
            <a:ahLst/>
            <a:cxnLst/>
            <a:rect r="r" b="b" t="t" l="l"/>
            <a:pathLst>
              <a:path h="7219239" w="13457222">
                <a:moveTo>
                  <a:pt x="0" y="0"/>
                </a:moveTo>
                <a:lnTo>
                  <a:pt x="13457222" y="0"/>
                </a:lnTo>
                <a:lnTo>
                  <a:pt x="13457222" y="7219239"/>
                </a:lnTo>
                <a:lnTo>
                  <a:pt x="0" y="7219239"/>
                </a:lnTo>
                <a:lnTo>
                  <a:pt x="0" y="0"/>
                </a:lnTo>
                <a:close/>
              </a:path>
            </a:pathLst>
          </a:custGeom>
          <a:blipFill>
            <a:blip r:embed="rId5"/>
            <a:stretch>
              <a:fillRect l="-8" t="0" r="-8" b="0"/>
            </a:stretch>
          </a:blipFill>
        </p:spPr>
      </p:sp>
      <p:grpSp>
        <p:nvGrpSpPr>
          <p:cNvPr name="Group 7" id="7"/>
          <p:cNvGrpSpPr/>
          <p:nvPr/>
        </p:nvGrpSpPr>
        <p:grpSpPr>
          <a:xfrm rot="0">
            <a:off x="1028700" y="5478037"/>
            <a:ext cx="2121066" cy="184217"/>
            <a:chOff x="0" y="0"/>
            <a:chExt cx="558635" cy="48518"/>
          </a:xfrm>
        </p:grpSpPr>
        <p:sp>
          <p:nvSpPr>
            <p:cNvPr name="Freeform 8" id="8"/>
            <p:cNvSpPr/>
            <p:nvPr/>
          </p:nvSpPr>
          <p:spPr>
            <a:xfrm flipH="false" flipV="false" rot="0">
              <a:off x="0" y="0"/>
              <a:ext cx="558635" cy="48518"/>
            </a:xfrm>
            <a:custGeom>
              <a:avLst/>
              <a:gdLst/>
              <a:ahLst/>
              <a:cxnLst/>
              <a:rect r="r" b="b" t="t" l="l"/>
              <a:pathLst>
                <a:path h="48518" w="558635">
                  <a:moveTo>
                    <a:pt x="0" y="0"/>
                  </a:moveTo>
                  <a:lnTo>
                    <a:pt x="558635" y="0"/>
                  </a:lnTo>
                  <a:lnTo>
                    <a:pt x="558635" y="48518"/>
                  </a:lnTo>
                  <a:lnTo>
                    <a:pt x="0" y="48518"/>
                  </a:lnTo>
                  <a:close/>
                </a:path>
              </a:pathLst>
            </a:custGeom>
            <a:solidFill>
              <a:srgbClr val="004AAD"/>
            </a:solidFill>
          </p:spPr>
        </p:sp>
        <p:sp>
          <p:nvSpPr>
            <p:cNvPr name="TextBox 9" id="9"/>
            <p:cNvSpPr txBox="true"/>
            <p:nvPr/>
          </p:nvSpPr>
          <p:spPr>
            <a:xfrm>
              <a:off x="0" y="-47625"/>
              <a:ext cx="558635" cy="9614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4723238"/>
            <a:ext cx="2121066" cy="754800"/>
          </a:xfrm>
          <a:prstGeom prst="rect">
            <a:avLst/>
          </a:prstGeom>
        </p:spPr>
        <p:txBody>
          <a:bodyPr anchor="t" rtlCol="false" tIns="0" lIns="0" bIns="0" rIns="0">
            <a:spAutoFit/>
          </a:bodyPr>
          <a:lstStyle/>
          <a:p>
            <a:pPr algn="l">
              <a:lnSpc>
                <a:spcPts val="6171"/>
              </a:lnSpc>
            </a:pPr>
            <a:r>
              <a:rPr lang="en-US" b="true" sz="4408">
                <a:solidFill>
                  <a:srgbClr val="004AAD"/>
                </a:solidFill>
                <a:latin typeface="League Spartan"/>
                <a:ea typeface="League Spartan"/>
                <a:cs typeface="League Spartan"/>
                <a:sym typeface="League Spartan"/>
              </a:rPr>
              <a:t>INSERT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3802078" y="2303460"/>
            <a:ext cx="13457222" cy="7219239"/>
          </a:xfrm>
          <a:custGeom>
            <a:avLst/>
            <a:gdLst/>
            <a:ahLst/>
            <a:cxnLst/>
            <a:rect r="r" b="b" t="t" l="l"/>
            <a:pathLst>
              <a:path h="7219239" w="13457222">
                <a:moveTo>
                  <a:pt x="0" y="0"/>
                </a:moveTo>
                <a:lnTo>
                  <a:pt x="13457222" y="0"/>
                </a:lnTo>
                <a:lnTo>
                  <a:pt x="13457222" y="7219239"/>
                </a:lnTo>
                <a:lnTo>
                  <a:pt x="0" y="7219239"/>
                </a:lnTo>
                <a:lnTo>
                  <a:pt x="0" y="0"/>
                </a:lnTo>
                <a:close/>
              </a:path>
            </a:pathLst>
          </a:custGeom>
          <a:blipFill>
            <a:blip r:embed="rId5"/>
            <a:stretch>
              <a:fillRect l="-8" t="0" r="-8" b="0"/>
            </a:stretch>
          </a:blipFill>
        </p:spPr>
      </p:sp>
      <p:grpSp>
        <p:nvGrpSpPr>
          <p:cNvPr name="Group 7" id="7"/>
          <p:cNvGrpSpPr/>
          <p:nvPr/>
        </p:nvGrpSpPr>
        <p:grpSpPr>
          <a:xfrm rot="0">
            <a:off x="1028700" y="5478037"/>
            <a:ext cx="2286317" cy="184217"/>
            <a:chOff x="0" y="0"/>
            <a:chExt cx="602158" cy="48518"/>
          </a:xfrm>
        </p:grpSpPr>
        <p:sp>
          <p:nvSpPr>
            <p:cNvPr name="Freeform 8" id="8"/>
            <p:cNvSpPr/>
            <p:nvPr/>
          </p:nvSpPr>
          <p:spPr>
            <a:xfrm flipH="false" flipV="false" rot="0">
              <a:off x="0" y="0"/>
              <a:ext cx="602158" cy="48518"/>
            </a:xfrm>
            <a:custGeom>
              <a:avLst/>
              <a:gdLst/>
              <a:ahLst/>
              <a:cxnLst/>
              <a:rect r="r" b="b" t="t" l="l"/>
              <a:pathLst>
                <a:path h="48518" w="602158">
                  <a:moveTo>
                    <a:pt x="0" y="0"/>
                  </a:moveTo>
                  <a:lnTo>
                    <a:pt x="602158" y="0"/>
                  </a:lnTo>
                  <a:lnTo>
                    <a:pt x="602158" y="48518"/>
                  </a:lnTo>
                  <a:lnTo>
                    <a:pt x="0" y="48518"/>
                  </a:lnTo>
                  <a:close/>
                </a:path>
              </a:pathLst>
            </a:custGeom>
            <a:solidFill>
              <a:srgbClr val="004AAD"/>
            </a:solidFill>
          </p:spPr>
        </p:sp>
        <p:sp>
          <p:nvSpPr>
            <p:cNvPr name="TextBox 9" id="9"/>
            <p:cNvSpPr txBox="true"/>
            <p:nvPr/>
          </p:nvSpPr>
          <p:spPr>
            <a:xfrm>
              <a:off x="0" y="-47625"/>
              <a:ext cx="602158" cy="9614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4723238"/>
            <a:ext cx="2506804" cy="754800"/>
          </a:xfrm>
          <a:prstGeom prst="rect">
            <a:avLst/>
          </a:prstGeom>
        </p:spPr>
        <p:txBody>
          <a:bodyPr anchor="t" rtlCol="false" tIns="0" lIns="0" bIns="0" rIns="0">
            <a:spAutoFit/>
          </a:bodyPr>
          <a:lstStyle/>
          <a:p>
            <a:pPr algn="l">
              <a:lnSpc>
                <a:spcPts val="6171"/>
              </a:lnSpc>
            </a:pPr>
            <a:r>
              <a:rPr lang="en-US" b="true" sz="4408">
                <a:solidFill>
                  <a:srgbClr val="004AAD"/>
                </a:solidFill>
                <a:latin typeface="League Spartan"/>
                <a:ea typeface="League Spartan"/>
                <a:cs typeface="League Spartan"/>
                <a:sym typeface="League Spartan"/>
              </a:rPr>
              <a:t>UPDATE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3802078" y="2303460"/>
            <a:ext cx="13457222" cy="7219239"/>
          </a:xfrm>
          <a:custGeom>
            <a:avLst/>
            <a:gdLst/>
            <a:ahLst/>
            <a:cxnLst/>
            <a:rect r="r" b="b" t="t" l="l"/>
            <a:pathLst>
              <a:path h="7219239" w="13457222">
                <a:moveTo>
                  <a:pt x="0" y="0"/>
                </a:moveTo>
                <a:lnTo>
                  <a:pt x="13457222" y="0"/>
                </a:lnTo>
                <a:lnTo>
                  <a:pt x="13457222" y="7219239"/>
                </a:lnTo>
                <a:lnTo>
                  <a:pt x="0" y="7219239"/>
                </a:lnTo>
                <a:lnTo>
                  <a:pt x="0" y="0"/>
                </a:lnTo>
                <a:close/>
              </a:path>
            </a:pathLst>
          </a:custGeom>
          <a:blipFill>
            <a:blip r:embed="rId5"/>
            <a:stretch>
              <a:fillRect l="-8" t="0" r="-8" b="0"/>
            </a:stretch>
          </a:blipFill>
        </p:spPr>
      </p:sp>
      <p:grpSp>
        <p:nvGrpSpPr>
          <p:cNvPr name="Group 7" id="7"/>
          <p:cNvGrpSpPr/>
          <p:nvPr/>
        </p:nvGrpSpPr>
        <p:grpSpPr>
          <a:xfrm rot="0">
            <a:off x="1028700" y="5478037"/>
            <a:ext cx="2082100" cy="184217"/>
            <a:chOff x="0" y="0"/>
            <a:chExt cx="548372" cy="48518"/>
          </a:xfrm>
        </p:grpSpPr>
        <p:sp>
          <p:nvSpPr>
            <p:cNvPr name="Freeform 8" id="8"/>
            <p:cNvSpPr/>
            <p:nvPr/>
          </p:nvSpPr>
          <p:spPr>
            <a:xfrm flipH="false" flipV="false" rot="0">
              <a:off x="0" y="0"/>
              <a:ext cx="548372" cy="48518"/>
            </a:xfrm>
            <a:custGeom>
              <a:avLst/>
              <a:gdLst/>
              <a:ahLst/>
              <a:cxnLst/>
              <a:rect r="r" b="b" t="t" l="l"/>
              <a:pathLst>
                <a:path h="48518" w="548372">
                  <a:moveTo>
                    <a:pt x="0" y="0"/>
                  </a:moveTo>
                  <a:lnTo>
                    <a:pt x="548372" y="0"/>
                  </a:lnTo>
                  <a:lnTo>
                    <a:pt x="548372" y="48518"/>
                  </a:lnTo>
                  <a:lnTo>
                    <a:pt x="0" y="48518"/>
                  </a:lnTo>
                  <a:close/>
                </a:path>
              </a:pathLst>
            </a:custGeom>
            <a:solidFill>
              <a:srgbClr val="004AAD"/>
            </a:solidFill>
          </p:spPr>
        </p:sp>
        <p:sp>
          <p:nvSpPr>
            <p:cNvPr name="TextBox 9" id="9"/>
            <p:cNvSpPr txBox="true"/>
            <p:nvPr/>
          </p:nvSpPr>
          <p:spPr>
            <a:xfrm>
              <a:off x="0" y="-47625"/>
              <a:ext cx="548372" cy="9614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4723238"/>
            <a:ext cx="2082100" cy="754800"/>
          </a:xfrm>
          <a:prstGeom prst="rect">
            <a:avLst/>
          </a:prstGeom>
        </p:spPr>
        <p:txBody>
          <a:bodyPr anchor="t" rtlCol="false" tIns="0" lIns="0" bIns="0" rIns="0">
            <a:spAutoFit/>
          </a:bodyPr>
          <a:lstStyle/>
          <a:p>
            <a:pPr algn="l">
              <a:lnSpc>
                <a:spcPts val="6171"/>
              </a:lnSpc>
            </a:pPr>
            <a:r>
              <a:rPr lang="en-US" b="true" sz="4408">
                <a:solidFill>
                  <a:srgbClr val="004AAD"/>
                </a:solidFill>
                <a:latin typeface="League Spartan"/>
                <a:ea typeface="League Spartan"/>
                <a:cs typeface="League Spartan"/>
                <a:sym typeface="League Spartan"/>
              </a:rPr>
              <a:t>DELETE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7" y="6179939"/>
            <a:ext cx="6513848" cy="178272"/>
            <a:chOff x="0" y="0"/>
            <a:chExt cx="1715581" cy="46952"/>
          </a:xfrm>
        </p:grpSpPr>
        <p:sp>
          <p:nvSpPr>
            <p:cNvPr name="Freeform 4" id="4"/>
            <p:cNvSpPr/>
            <p:nvPr/>
          </p:nvSpPr>
          <p:spPr>
            <a:xfrm flipH="false" flipV="false" rot="0">
              <a:off x="0" y="0"/>
              <a:ext cx="1715581" cy="46952"/>
            </a:xfrm>
            <a:custGeom>
              <a:avLst/>
              <a:gdLst/>
              <a:ahLst/>
              <a:cxnLst/>
              <a:rect r="r" b="b" t="t" l="l"/>
              <a:pathLst>
                <a:path h="46952" w="1715581">
                  <a:moveTo>
                    <a:pt x="0" y="0"/>
                  </a:moveTo>
                  <a:lnTo>
                    <a:pt x="1715581" y="0"/>
                  </a:lnTo>
                  <a:lnTo>
                    <a:pt x="1715581" y="46952"/>
                  </a:lnTo>
                  <a:lnTo>
                    <a:pt x="0" y="46952"/>
                  </a:lnTo>
                  <a:close/>
                </a:path>
              </a:pathLst>
            </a:custGeom>
            <a:solidFill>
              <a:srgbClr val="004AAD"/>
            </a:solidFill>
          </p:spPr>
        </p:sp>
        <p:sp>
          <p:nvSpPr>
            <p:cNvPr name="TextBox 5" id="5"/>
            <p:cNvSpPr txBox="true"/>
            <p:nvPr/>
          </p:nvSpPr>
          <p:spPr>
            <a:xfrm>
              <a:off x="0" y="-47625"/>
              <a:ext cx="1715581" cy="9457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162265" y="2255493"/>
            <a:ext cx="5407039" cy="5407039"/>
          </a:xfrm>
          <a:custGeom>
            <a:avLst/>
            <a:gdLst/>
            <a:ahLst/>
            <a:cxnLst/>
            <a:rect r="r" b="b" t="t" l="l"/>
            <a:pathLst>
              <a:path h="5407039" w="5407039">
                <a:moveTo>
                  <a:pt x="0" y="0"/>
                </a:moveTo>
                <a:lnTo>
                  <a:pt x="5407040" y="0"/>
                </a:lnTo>
                <a:lnTo>
                  <a:pt x="5407040" y="5407040"/>
                </a:lnTo>
                <a:lnTo>
                  <a:pt x="0" y="5407040"/>
                </a:lnTo>
                <a:lnTo>
                  <a:pt x="0" y="0"/>
                </a:lnTo>
                <a:close/>
              </a:path>
            </a:pathLst>
          </a:custGeom>
          <a:blipFill>
            <a:blip r:embed="rId3"/>
            <a:stretch>
              <a:fillRect l="0" t="0" r="0" b="0"/>
            </a:stretch>
          </a:blipFill>
        </p:spPr>
      </p:sp>
      <p:sp>
        <p:nvSpPr>
          <p:cNvPr name="TextBox 7" id="7"/>
          <p:cNvSpPr txBox="true"/>
          <p:nvPr/>
        </p:nvSpPr>
        <p:spPr>
          <a:xfrm rot="0">
            <a:off x="1417666" y="4467948"/>
            <a:ext cx="6775570" cy="886880"/>
          </a:xfrm>
          <a:prstGeom prst="rect">
            <a:avLst/>
          </a:prstGeom>
        </p:spPr>
        <p:txBody>
          <a:bodyPr anchor="t" rtlCol="false" tIns="0" lIns="0" bIns="0" rIns="0">
            <a:spAutoFit/>
          </a:bodyPr>
          <a:lstStyle/>
          <a:p>
            <a:pPr algn="l">
              <a:lnSpc>
                <a:spcPts val="7291"/>
              </a:lnSpc>
            </a:pPr>
            <a:r>
              <a:rPr lang="en-US" b="true" sz="5208">
                <a:solidFill>
                  <a:srgbClr val="004AAD"/>
                </a:solidFill>
                <a:latin typeface="League Spartan"/>
                <a:ea typeface="League Spartan"/>
                <a:cs typeface="League Spartan"/>
                <a:sym typeface="League Spartan"/>
              </a:rPr>
              <a:t>DATA WAREHOUSE</a:t>
            </a:r>
          </a:p>
        </p:txBody>
      </p:sp>
      <p:sp>
        <p:nvSpPr>
          <p:cNvPr name="AutoShape 8" id="8"/>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9" id="9"/>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4"/>
            <a:stretch>
              <a:fillRect l="0" t="0" r="0" b="0"/>
            </a:stretch>
          </a:blipFill>
        </p:spPr>
      </p:sp>
      <p:sp>
        <p:nvSpPr>
          <p:cNvPr name="Freeform 10" id="10"/>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320466" y="4239507"/>
            <a:ext cx="17647068" cy="3992649"/>
          </a:xfrm>
          <a:custGeom>
            <a:avLst/>
            <a:gdLst/>
            <a:ahLst/>
            <a:cxnLst/>
            <a:rect r="r" b="b" t="t" l="l"/>
            <a:pathLst>
              <a:path h="3992649" w="17647068">
                <a:moveTo>
                  <a:pt x="0" y="0"/>
                </a:moveTo>
                <a:lnTo>
                  <a:pt x="17647068" y="0"/>
                </a:lnTo>
                <a:lnTo>
                  <a:pt x="17647068" y="3992649"/>
                </a:lnTo>
                <a:lnTo>
                  <a:pt x="0" y="3992649"/>
                </a:lnTo>
                <a:lnTo>
                  <a:pt x="0" y="0"/>
                </a:lnTo>
                <a:close/>
              </a:path>
            </a:pathLst>
          </a:custGeom>
          <a:blipFill>
            <a:blip r:embed="rId5"/>
            <a:stretch>
              <a:fillRect l="0" t="0" r="0" b="0"/>
            </a:stretch>
          </a:blipFill>
        </p:spPr>
      </p:sp>
      <p:sp>
        <p:nvSpPr>
          <p:cNvPr name="TextBox 7" id="7"/>
          <p:cNvSpPr txBox="true"/>
          <p:nvPr/>
        </p:nvSpPr>
        <p:spPr>
          <a:xfrm rot="0">
            <a:off x="320466" y="2443462"/>
            <a:ext cx="8823534" cy="770217"/>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SSIS - MASTER PACKAGE FLOW</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1919267"/>
            <a:ext cx="8665158" cy="8015271"/>
          </a:xfrm>
          <a:custGeom>
            <a:avLst/>
            <a:gdLst/>
            <a:ahLst/>
            <a:cxnLst/>
            <a:rect r="r" b="b" t="t" l="l"/>
            <a:pathLst>
              <a:path h="8015271" w="8665158">
                <a:moveTo>
                  <a:pt x="0" y="0"/>
                </a:moveTo>
                <a:lnTo>
                  <a:pt x="8665158" y="0"/>
                </a:lnTo>
                <a:lnTo>
                  <a:pt x="8665158" y="8015271"/>
                </a:lnTo>
                <a:lnTo>
                  <a:pt x="0" y="8015271"/>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TextBox 6" id="6"/>
          <p:cNvSpPr txBox="true"/>
          <p:nvPr/>
        </p:nvSpPr>
        <p:spPr>
          <a:xfrm rot="0">
            <a:off x="616961" y="4286567"/>
            <a:ext cx="8230545" cy="166624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9 Dimensions (Date, Customer, Product, Warehouse, Vendor, Driver, Vehicle, ProdLine, Channel).</a:t>
            </a:r>
          </a:p>
          <a:p>
            <a:pPr algn="l">
              <a:lnSpc>
                <a:spcPts val="2659"/>
              </a:lnSpc>
            </a:pP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5 Fact Tables (Sales, Procurement, Production, Logistics, Returns).</a:t>
            </a:r>
          </a:p>
        </p:txBody>
      </p:sp>
      <p:sp>
        <p:nvSpPr>
          <p:cNvPr name="TextBox 7" id="7"/>
          <p:cNvSpPr txBox="true"/>
          <p:nvPr/>
        </p:nvSpPr>
        <p:spPr>
          <a:xfrm rot="0">
            <a:off x="320466" y="2443462"/>
            <a:ext cx="8823534" cy="770217"/>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DATA WAREHOUSE DESIGN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3" id="3"/>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2"/>
            <a:stretch>
              <a:fillRect l="0" t="0" r="0" b="0"/>
            </a:stretch>
          </a:blipFill>
        </p:spPr>
      </p:sp>
      <p:sp>
        <p:nvSpPr>
          <p:cNvPr name="Freeform 4" id="4"/>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3"/>
            <a:stretch>
              <a:fillRect l="0" t="0" r="0" b="0"/>
            </a:stretch>
          </a:blipFill>
        </p:spPr>
      </p:sp>
      <p:sp>
        <p:nvSpPr>
          <p:cNvPr name="Freeform 5" id="5"/>
          <p:cNvSpPr/>
          <p:nvPr/>
        </p:nvSpPr>
        <p:spPr>
          <a:xfrm flipH="false" flipV="false" rot="0">
            <a:off x="9451776" y="3256266"/>
            <a:ext cx="7807524" cy="6002034"/>
          </a:xfrm>
          <a:custGeom>
            <a:avLst/>
            <a:gdLst/>
            <a:ahLst/>
            <a:cxnLst/>
            <a:rect r="r" b="b" t="t" l="l"/>
            <a:pathLst>
              <a:path h="6002034" w="7807524">
                <a:moveTo>
                  <a:pt x="0" y="0"/>
                </a:moveTo>
                <a:lnTo>
                  <a:pt x="7807524" y="0"/>
                </a:lnTo>
                <a:lnTo>
                  <a:pt x="7807524" y="6002034"/>
                </a:lnTo>
                <a:lnTo>
                  <a:pt x="0" y="6002034"/>
                </a:lnTo>
                <a:lnTo>
                  <a:pt x="0" y="0"/>
                </a:lnTo>
                <a:close/>
              </a:path>
            </a:pathLst>
          </a:custGeom>
          <a:blipFill>
            <a:blip r:embed="rId4"/>
            <a:stretch>
              <a:fillRect l="0" t="0" r="0" b="0"/>
            </a:stretch>
          </a:blipFill>
        </p:spPr>
      </p:sp>
      <p:sp>
        <p:nvSpPr>
          <p:cNvPr name="TextBox 6" id="6"/>
          <p:cNvSpPr txBox="true"/>
          <p:nvPr/>
        </p:nvSpPr>
        <p:spPr>
          <a:xfrm rot="0">
            <a:off x="320466" y="2443462"/>
            <a:ext cx="8823534" cy="1314412"/>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DATA WAREHOUSE DESIGN</a:t>
            </a:r>
          </a:p>
          <a:p>
            <a:pPr algn="just">
              <a:lnSpc>
                <a:spcPts val="4132"/>
              </a:lnSpc>
            </a:pPr>
            <a:r>
              <a:rPr lang="en-US" sz="2951">
                <a:solidFill>
                  <a:srgbClr val="000000"/>
                </a:solidFill>
                <a:latin typeface="Roboto"/>
                <a:ea typeface="Roboto"/>
                <a:cs typeface="Roboto"/>
                <a:sym typeface="Roboto"/>
              </a:rPr>
              <a:t>Detailed Star Schemas</a:t>
            </a:r>
          </a:p>
        </p:txBody>
      </p:sp>
      <p:sp>
        <p:nvSpPr>
          <p:cNvPr name="TextBox 7" id="7"/>
          <p:cNvSpPr txBox="true"/>
          <p:nvPr/>
        </p:nvSpPr>
        <p:spPr>
          <a:xfrm rot="0">
            <a:off x="12895043" y="2678748"/>
            <a:ext cx="1407616" cy="464783"/>
          </a:xfrm>
          <a:prstGeom prst="rect">
            <a:avLst/>
          </a:prstGeom>
        </p:spPr>
        <p:txBody>
          <a:bodyPr anchor="t" rtlCol="false" tIns="0" lIns="0" bIns="0" rIns="0">
            <a:spAutoFit/>
          </a:bodyPr>
          <a:lstStyle/>
          <a:p>
            <a:pPr algn="ctr">
              <a:lnSpc>
                <a:spcPts val="3782"/>
              </a:lnSpc>
              <a:spcBef>
                <a:spcPct val="0"/>
              </a:spcBef>
            </a:pPr>
            <a:r>
              <a:rPr lang="en-US" b="true" sz="2701" spc="-126">
                <a:solidFill>
                  <a:srgbClr val="004AAD"/>
                </a:solidFill>
                <a:latin typeface="Roboto Bold"/>
                <a:ea typeface="Roboto Bold"/>
                <a:cs typeface="Roboto Bold"/>
                <a:sym typeface="Roboto Bold"/>
              </a:rPr>
              <a:t>Sales Star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3" id="3"/>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2"/>
            <a:stretch>
              <a:fillRect l="0" t="0" r="0" b="0"/>
            </a:stretch>
          </a:blipFill>
        </p:spPr>
      </p:sp>
      <p:sp>
        <p:nvSpPr>
          <p:cNvPr name="Freeform 4" id="4"/>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3"/>
            <a:stretch>
              <a:fillRect l="0" t="0" r="0" b="0"/>
            </a:stretch>
          </a:blipFill>
        </p:spPr>
      </p:sp>
      <p:sp>
        <p:nvSpPr>
          <p:cNvPr name="TextBox 5" id="5"/>
          <p:cNvSpPr txBox="true"/>
          <p:nvPr/>
        </p:nvSpPr>
        <p:spPr>
          <a:xfrm rot="0">
            <a:off x="320466" y="2443462"/>
            <a:ext cx="8823534" cy="1314412"/>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DATA WAREHOUSE DESIGN</a:t>
            </a:r>
          </a:p>
          <a:p>
            <a:pPr algn="just">
              <a:lnSpc>
                <a:spcPts val="4132"/>
              </a:lnSpc>
            </a:pPr>
            <a:r>
              <a:rPr lang="en-US" sz="2951">
                <a:solidFill>
                  <a:srgbClr val="000000"/>
                </a:solidFill>
                <a:latin typeface="Roboto"/>
                <a:ea typeface="Roboto"/>
                <a:cs typeface="Roboto"/>
                <a:sym typeface="Roboto"/>
              </a:rPr>
              <a:t>Detailed Star Schemas</a:t>
            </a:r>
          </a:p>
        </p:txBody>
      </p:sp>
      <p:sp>
        <p:nvSpPr>
          <p:cNvPr name="TextBox 6" id="6"/>
          <p:cNvSpPr txBox="true"/>
          <p:nvPr/>
        </p:nvSpPr>
        <p:spPr>
          <a:xfrm rot="0">
            <a:off x="11132531" y="2882564"/>
            <a:ext cx="2466320" cy="464783"/>
          </a:xfrm>
          <a:prstGeom prst="rect">
            <a:avLst/>
          </a:prstGeom>
        </p:spPr>
        <p:txBody>
          <a:bodyPr anchor="t" rtlCol="false" tIns="0" lIns="0" bIns="0" rIns="0">
            <a:spAutoFit/>
          </a:bodyPr>
          <a:lstStyle/>
          <a:p>
            <a:pPr algn="ctr">
              <a:lnSpc>
                <a:spcPts val="3782"/>
              </a:lnSpc>
              <a:spcBef>
                <a:spcPct val="0"/>
              </a:spcBef>
            </a:pPr>
            <a:r>
              <a:rPr lang="en-US" b="true" sz="2701" spc="-126">
                <a:solidFill>
                  <a:srgbClr val="004AAD"/>
                </a:solidFill>
                <a:latin typeface="Roboto Bold"/>
                <a:ea typeface="Roboto Bold"/>
                <a:cs typeface="Roboto Bold"/>
                <a:sym typeface="Roboto Bold"/>
              </a:rPr>
              <a:t>Procurement</a:t>
            </a:r>
            <a:r>
              <a:rPr lang="en-US" b="true" sz="2701" spc="-126">
                <a:solidFill>
                  <a:srgbClr val="004AAD"/>
                </a:solidFill>
                <a:latin typeface="Roboto Bold"/>
                <a:ea typeface="Roboto Bold"/>
                <a:cs typeface="Roboto Bold"/>
                <a:sym typeface="Roboto Bold"/>
              </a:rPr>
              <a:t> Star</a:t>
            </a:r>
          </a:p>
        </p:txBody>
      </p:sp>
      <p:sp>
        <p:nvSpPr>
          <p:cNvPr name="Freeform 7" id="7"/>
          <p:cNvSpPr/>
          <p:nvPr/>
        </p:nvSpPr>
        <p:spPr>
          <a:xfrm flipH="false" flipV="false" rot="0">
            <a:off x="7437997" y="3603771"/>
            <a:ext cx="9855387" cy="5654529"/>
          </a:xfrm>
          <a:custGeom>
            <a:avLst/>
            <a:gdLst/>
            <a:ahLst/>
            <a:cxnLst/>
            <a:rect r="r" b="b" t="t" l="l"/>
            <a:pathLst>
              <a:path h="5654529" w="9855387">
                <a:moveTo>
                  <a:pt x="0" y="0"/>
                </a:moveTo>
                <a:lnTo>
                  <a:pt x="9855387" y="0"/>
                </a:lnTo>
                <a:lnTo>
                  <a:pt x="9855387" y="5654529"/>
                </a:lnTo>
                <a:lnTo>
                  <a:pt x="0" y="5654529"/>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3" id="3"/>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2"/>
            <a:stretch>
              <a:fillRect l="0" t="0" r="0" b="0"/>
            </a:stretch>
          </a:blipFill>
        </p:spPr>
      </p:sp>
      <p:sp>
        <p:nvSpPr>
          <p:cNvPr name="Freeform 4" id="4"/>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3"/>
            <a:stretch>
              <a:fillRect l="0" t="0" r="0" b="0"/>
            </a:stretch>
          </a:blipFill>
        </p:spPr>
      </p:sp>
      <p:sp>
        <p:nvSpPr>
          <p:cNvPr name="TextBox 5" id="5"/>
          <p:cNvSpPr txBox="true"/>
          <p:nvPr/>
        </p:nvSpPr>
        <p:spPr>
          <a:xfrm rot="0">
            <a:off x="320466" y="2443462"/>
            <a:ext cx="8823534" cy="1314412"/>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DATA WAREHOUSE DESIGN</a:t>
            </a:r>
          </a:p>
          <a:p>
            <a:pPr algn="just">
              <a:lnSpc>
                <a:spcPts val="4132"/>
              </a:lnSpc>
            </a:pPr>
            <a:r>
              <a:rPr lang="en-US" sz="2951">
                <a:solidFill>
                  <a:srgbClr val="000000"/>
                </a:solidFill>
                <a:latin typeface="Roboto"/>
                <a:ea typeface="Roboto"/>
                <a:cs typeface="Roboto"/>
                <a:sym typeface="Roboto"/>
              </a:rPr>
              <a:t>Detailed Star Schemas</a:t>
            </a:r>
          </a:p>
        </p:txBody>
      </p:sp>
      <p:sp>
        <p:nvSpPr>
          <p:cNvPr name="TextBox 6" id="6"/>
          <p:cNvSpPr txBox="true"/>
          <p:nvPr/>
        </p:nvSpPr>
        <p:spPr>
          <a:xfrm rot="0">
            <a:off x="11280228" y="2882564"/>
            <a:ext cx="2170926" cy="464783"/>
          </a:xfrm>
          <a:prstGeom prst="rect">
            <a:avLst/>
          </a:prstGeom>
        </p:spPr>
        <p:txBody>
          <a:bodyPr anchor="t" rtlCol="false" tIns="0" lIns="0" bIns="0" rIns="0">
            <a:spAutoFit/>
          </a:bodyPr>
          <a:lstStyle/>
          <a:p>
            <a:pPr algn="ctr">
              <a:lnSpc>
                <a:spcPts val="3782"/>
              </a:lnSpc>
              <a:spcBef>
                <a:spcPct val="0"/>
              </a:spcBef>
            </a:pPr>
            <a:r>
              <a:rPr lang="en-US" b="true" sz="2701" spc="-126">
                <a:solidFill>
                  <a:srgbClr val="004AAD"/>
                </a:solidFill>
                <a:latin typeface="Roboto Bold"/>
                <a:ea typeface="Roboto Bold"/>
                <a:cs typeface="Roboto Bold"/>
                <a:sym typeface="Roboto Bold"/>
              </a:rPr>
              <a:t>Production</a:t>
            </a:r>
            <a:r>
              <a:rPr lang="en-US" b="true" sz="2701" spc="-126">
                <a:solidFill>
                  <a:srgbClr val="004AAD"/>
                </a:solidFill>
                <a:latin typeface="Roboto Bold"/>
                <a:ea typeface="Roboto Bold"/>
                <a:cs typeface="Roboto Bold"/>
                <a:sym typeface="Roboto Bold"/>
              </a:rPr>
              <a:t> Star</a:t>
            </a:r>
          </a:p>
        </p:txBody>
      </p:sp>
      <p:sp>
        <p:nvSpPr>
          <p:cNvPr name="Freeform 7" id="7"/>
          <p:cNvSpPr/>
          <p:nvPr/>
        </p:nvSpPr>
        <p:spPr>
          <a:xfrm flipH="false" flipV="false" rot="0">
            <a:off x="7923542" y="3528479"/>
            <a:ext cx="9335758" cy="5729821"/>
          </a:xfrm>
          <a:custGeom>
            <a:avLst/>
            <a:gdLst/>
            <a:ahLst/>
            <a:cxnLst/>
            <a:rect r="r" b="b" t="t" l="l"/>
            <a:pathLst>
              <a:path h="5729821" w="9335758">
                <a:moveTo>
                  <a:pt x="0" y="0"/>
                </a:moveTo>
                <a:lnTo>
                  <a:pt x="9335758" y="0"/>
                </a:lnTo>
                <a:lnTo>
                  <a:pt x="9335758" y="5729821"/>
                </a:lnTo>
                <a:lnTo>
                  <a:pt x="0" y="5729821"/>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3" id="3"/>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2"/>
            <a:stretch>
              <a:fillRect l="0" t="0" r="0" b="0"/>
            </a:stretch>
          </a:blipFill>
        </p:spPr>
      </p:sp>
      <p:sp>
        <p:nvSpPr>
          <p:cNvPr name="Freeform 4" id="4"/>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3"/>
            <a:stretch>
              <a:fillRect l="0" t="0" r="0" b="0"/>
            </a:stretch>
          </a:blipFill>
        </p:spPr>
      </p:sp>
      <p:sp>
        <p:nvSpPr>
          <p:cNvPr name="TextBox 5" id="5"/>
          <p:cNvSpPr txBox="true"/>
          <p:nvPr/>
        </p:nvSpPr>
        <p:spPr>
          <a:xfrm rot="0">
            <a:off x="320466" y="2443462"/>
            <a:ext cx="8823534" cy="1314412"/>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DATA WAREHOUSE DESIGN</a:t>
            </a:r>
          </a:p>
          <a:p>
            <a:pPr algn="just">
              <a:lnSpc>
                <a:spcPts val="4132"/>
              </a:lnSpc>
            </a:pPr>
            <a:r>
              <a:rPr lang="en-US" sz="2951">
                <a:solidFill>
                  <a:srgbClr val="000000"/>
                </a:solidFill>
                <a:latin typeface="Roboto"/>
                <a:ea typeface="Roboto"/>
                <a:cs typeface="Roboto"/>
                <a:sym typeface="Roboto"/>
              </a:rPr>
              <a:t>Detailed Star Schemas</a:t>
            </a:r>
          </a:p>
        </p:txBody>
      </p:sp>
      <p:sp>
        <p:nvSpPr>
          <p:cNvPr name="TextBox 6" id="6"/>
          <p:cNvSpPr txBox="true"/>
          <p:nvPr/>
        </p:nvSpPr>
        <p:spPr>
          <a:xfrm rot="0">
            <a:off x="11415393" y="2882564"/>
            <a:ext cx="1900595" cy="464783"/>
          </a:xfrm>
          <a:prstGeom prst="rect">
            <a:avLst/>
          </a:prstGeom>
        </p:spPr>
        <p:txBody>
          <a:bodyPr anchor="t" rtlCol="false" tIns="0" lIns="0" bIns="0" rIns="0">
            <a:spAutoFit/>
          </a:bodyPr>
          <a:lstStyle/>
          <a:p>
            <a:pPr algn="ctr">
              <a:lnSpc>
                <a:spcPts val="3782"/>
              </a:lnSpc>
              <a:spcBef>
                <a:spcPct val="0"/>
              </a:spcBef>
            </a:pPr>
            <a:r>
              <a:rPr lang="en-US" b="true" sz="2701" spc="-126">
                <a:solidFill>
                  <a:srgbClr val="004AAD"/>
                </a:solidFill>
                <a:latin typeface="Roboto Bold"/>
                <a:ea typeface="Roboto Bold"/>
                <a:cs typeface="Roboto Bold"/>
                <a:sym typeface="Roboto Bold"/>
              </a:rPr>
              <a:t>Logistics</a:t>
            </a:r>
            <a:r>
              <a:rPr lang="en-US" b="true" sz="2701" spc="-126">
                <a:solidFill>
                  <a:srgbClr val="004AAD"/>
                </a:solidFill>
                <a:latin typeface="Roboto Bold"/>
                <a:ea typeface="Roboto Bold"/>
                <a:cs typeface="Roboto Bold"/>
                <a:sym typeface="Roboto Bold"/>
              </a:rPr>
              <a:t> Star</a:t>
            </a:r>
          </a:p>
        </p:txBody>
      </p:sp>
      <p:sp>
        <p:nvSpPr>
          <p:cNvPr name="Freeform 7" id="7"/>
          <p:cNvSpPr/>
          <p:nvPr/>
        </p:nvSpPr>
        <p:spPr>
          <a:xfrm flipH="false" flipV="false" rot="0">
            <a:off x="7191464" y="3450230"/>
            <a:ext cx="10348454" cy="5808070"/>
          </a:xfrm>
          <a:custGeom>
            <a:avLst/>
            <a:gdLst/>
            <a:ahLst/>
            <a:cxnLst/>
            <a:rect r="r" b="b" t="t" l="l"/>
            <a:pathLst>
              <a:path h="5808070" w="10348454">
                <a:moveTo>
                  <a:pt x="0" y="0"/>
                </a:moveTo>
                <a:lnTo>
                  <a:pt x="10348454" y="0"/>
                </a:lnTo>
                <a:lnTo>
                  <a:pt x="10348454" y="5808070"/>
                </a:lnTo>
                <a:lnTo>
                  <a:pt x="0" y="5808070"/>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3" id="3"/>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2"/>
            <a:stretch>
              <a:fillRect l="0" t="0" r="0" b="0"/>
            </a:stretch>
          </a:blipFill>
        </p:spPr>
      </p:sp>
      <p:sp>
        <p:nvSpPr>
          <p:cNvPr name="Freeform 4" id="4"/>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3"/>
            <a:stretch>
              <a:fillRect l="0" t="0" r="0" b="0"/>
            </a:stretch>
          </a:blipFill>
        </p:spPr>
      </p:sp>
      <p:sp>
        <p:nvSpPr>
          <p:cNvPr name="TextBox 5" id="5"/>
          <p:cNvSpPr txBox="true"/>
          <p:nvPr/>
        </p:nvSpPr>
        <p:spPr>
          <a:xfrm rot="0">
            <a:off x="320466" y="2443462"/>
            <a:ext cx="8823534" cy="1314412"/>
          </a:xfrm>
          <a:prstGeom prst="rect">
            <a:avLst/>
          </a:prstGeom>
        </p:spPr>
        <p:txBody>
          <a:bodyPr anchor="t" rtlCol="false" tIns="0" lIns="0" bIns="0" rIns="0">
            <a:spAutoFit/>
          </a:bodyPr>
          <a:lstStyle/>
          <a:p>
            <a:pPr algn="just">
              <a:lnSpc>
                <a:spcPts val="6372"/>
              </a:lnSpc>
            </a:pPr>
            <a:r>
              <a:rPr lang="en-US" b="true" sz="4551">
                <a:solidFill>
                  <a:srgbClr val="000000"/>
                </a:solidFill>
                <a:latin typeface="Roboto Bold"/>
                <a:ea typeface="Roboto Bold"/>
                <a:cs typeface="Roboto Bold"/>
                <a:sym typeface="Roboto Bold"/>
              </a:rPr>
              <a:t>DATA WAREHOUSE DESIGN</a:t>
            </a:r>
          </a:p>
          <a:p>
            <a:pPr algn="just">
              <a:lnSpc>
                <a:spcPts val="4132"/>
              </a:lnSpc>
            </a:pPr>
            <a:r>
              <a:rPr lang="en-US" sz="2951">
                <a:solidFill>
                  <a:srgbClr val="000000"/>
                </a:solidFill>
                <a:latin typeface="Roboto"/>
                <a:ea typeface="Roboto"/>
                <a:cs typeface="Roboto"/>
                <a:sym typeface="Roboto"/>
              </a:rPr>
              <a:t>Detailed Star Schemas</a:t>
            </a:r>
          </a:p>
        </p:txBody>
      </p:sp>
      <p:sp>
        <p:nvSpPr>
          <p:cNvPr name="TextBox 6" id="6"/>
          <p:cNvSpPr txBox="true"/>
          <p:nvPr/>
        </p:nvSpPr>
        <p:spPr>
          <a:xfrm rot="0">
            <a:off x="12258894" y="2882564"/>
            <a:ext cx="1733669" cy="464783"/>
          </a:xfrm>
          <a:prstGeom prst="rect">
            <a:avLst/>
          </a:prstGeom>
        </p:spPr>
        <p:txBody>
          <a:bodyPr anchor="t" rtlCol="false" tIns="0" lIns="0" bIns="0" rIns="0">
            <a:spAutoFit/>
          </a:bodyPr>
          <a:lstStyle/>
          <a:p>
            <a:pPr algn="ctr">
              <a:lnSpc>
                <a:spcPts val="3782"/>
              </a:lnSpc>
              <a:spcBef>
                <a:spcPct val="0"/>
              </a:spcBef>
            </a:pPr>
            <a:r>
              <a:rPr lang="en-US" b="true" sz="2701" spc="-126">
                <a:solidFill>
                  <a:srgbClr val="004AAD"/>
                </a:solidFill>
                <a:latin typeface="Roboto Bold"/>
                <a:ea typeface="Roboto Bold"/>
                <a:cs typeface="Roboto Bold"/>
                <a:sym typeface="Roboto Bold"/>
              </a:rPr>
              <a:t>Returns </a:t>
            </a:r>
            <a:r>
              <a:rPr lang="en-US" b="true" sz="2701" spc="-126">
                <a:solidFill>
                  <a:srgbClr val="004AAD"/>
                </a:solidFill>
                <a:latin typeface="Roboto Bold"/>
                <a:ea typeface="Roboto Bold"/>
                <a:cs typeface="Roboto Bold"/>
                <a:sym typeface="Roboto Bold"/>
              </a:rPr>
              <a:t>Star</a:t>
            </a:r>
          </a:p>
        </p:txBody>
      </p:sp>
      <p:sp>
        <p:nvSpPr>
          <p:cNvPr name="Freeform 7" id="7"/>
          <p:cNvSpPr/>
          <p:nvPr/>
        </p:nvSpPr>
        <p:spPr>
          <a:xfrm flipH="false" flipV="false" rot="0">
            <a:off x="8992157" y="3757874"/>
            <a:ext cx="8267143" cy="5911007"/>
          </a:xfrm>
          <a:custGeom>
            <a:avLst/>
            <a:gdLst/>
            <a:ahLst/>
            <a:cxnLst/>
            <a:rect r="r" b="b" t="t" l="l"/>
            <a:pathLst>
              <a:path h="5911007" w="8267143">
                <a:moveTo>
                  <a:pt x="0" y="0"/>
                </a:moveTo>
                <a:lnTo>
                  <a:pt x="8267143" y="0"/>
                </a:lnTo>
                <a:lnTo>
                  <a:pt x="8267143" y="5911007"/>
                </a:lnTo>
                <a:lnTo>
                  <a:pt x="0" y="5911007"/>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48527" y="6179939"/>
            <a:ext cx="5168455" cy="178272"/>
            <a:chOff x="0" y="0"/>
            <a:chExt cx="1361239" cy="46952"/>
          </a:xfrm>
        </p:grpSpPr>
        <p:sp>
          <p:nvSpPr>
            <p:cNvPr name="Freeform 4" id="4"/>
            <p:cNvSpPr/>
            <p:nvPr/>
          </p:nvSpPr>
          <p:spPr>
            <a:xfrm flipH="false" flipV="false" rot="0">
              <a:off x="0" y="0"/>
              <a:ext cx="1361239" cy="46952"/>
            </a:xfrm>
            <a:custGeom>
              <a:avLst/>
              <a:gdLst/>
              <a:ahLst/>
              <a:cxnLst/>
              <a:rect r="r" b="b" t="t" l="l"/>
              <a:pathLst>
                <a:path h="46952" w="1361239">
                  <a:moveTo>
                    <a:pt x="0" y="0"/>
                  </a:moveTo>
                  <a:lnTo>
                    <a:pt x="1361239" y="0"/>
                  </a:lnTo>
                  <a:lnTo>
                    <a:pt x="1361239" y="46952"/>
                  </a:lnTo>
                  <a:lnTo>
                    <a:pt x="0" y="46952"/>
                  </a:lnTo>
                  <a:close/>
                </a:path>
              </a:pathLst>
            </a:custGeom>
            <a:solidFill>
              <a:srgbClr val="004AAD"/>
            </a:solidFill>
          </p:spPr>
        </p:sp>
        <p:sp>
          <p:nvSpPr>
            <p:cNvPr name="TextBox 5" id="5"/>
            <p:cNvSpPr txBox="true"/>
            <p:nvPr/>
          </p:nvSpPr>
          <p:spPr>
            <a:xfrm>
              <a:off x="0" y="-47625"/>
              <a:ext cx="1361239" cy="9457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133407" y="2625851"/>
            <a:ext cx="5778062" cy="5778062"/>
          </a:xfrm>
          <a:custGeom>
            <a:avLst/>
            <a:gdLst/>
            <a:ahLst/>
            <a:cxnLst/>
            <a:rect r="r" b="b" t="t" l="l"/>
            <a:pathLst>
              <a:path h="5778062" w="5778062">
                <a:moveTo>
                  <a:pt x="0" y="0"/>
                </a:moveTo>
                <a:lnTo>
                  <a:pt x="5778062" y="0"/>
                </a:lnTo>
                <a:lnTo>
                  <a:pt x="5778062" y="5778062"/>
                </a:lnTo>
                <a:lnTo>
                  <a:pt x="0" y="5778062"/>
                </a:lnTo>
                <a:lnTo>
                  <a:pt x="0" y="0"/>
                </a:lnTo>
                <a:close/>
              </a:path>
            </a:pathLst>
          </a:custGeom>
          <a:blipFill>
            <a:blip r:embed="rId3"/>
            <a:stretch>
              <a:fillRect l="0" t="0" r="0" b="0"/>
            </a:stretch>
          </a:blipFill>
        </p:spPr>
      </p:sp>
      <p:sp>
        <p:nvSpPr>
          <p:cNvPr name="TextBox 7" id="7"/>
          <p:cNvSpPr txBox="true"/>
          <p:nvPr/>
        </p:nvSpPr>
        <p:spPr>
          <a:xfrm rot="0">
            <a:off x="1548527" y="4434630"/>
            <a:ext cx="6513848"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SSRS REPORTS</a:t>
            </a:r>
          </a:p>
        </p:txBody>
      </p:sp>
      <p:sp>
        <p:nvSpPr>
          <p:cNvPr name="Freeform 8" id="8"/>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4"/>
            <a:stretch>
              <a:fillRect l="0" t="0" r="0" b="0"/>
            </a:stretch>
          </a:blipFill>
        </p:spPr>
      </p:sp>
      <p:sp>
        <p:nvSpPr>
          <p:cNvPr name="AutoShape 9" id="9"/>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10" id="10"/>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5"/>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943000" y="3784520"/>
            <a:ext cx="13139411" cy="6269791"/>
          </a:xfrm>
          <a:custGeom>
            <a:avLst/>
            <a:gdLst/>
            <a:ahLst/>
            <a:cxnLst/>
            <a:rect r="r" b="b" t="t" l="l"/>
            <a:pathLst>
              <a:path h="6269791" w="13139411">
                <a:moveTo>
                  <a:pt x="0" y="0"/>
                </a:moveTo>
                <a:lnTo>
                  <a:pt x="13139411" y="0"/>
                </a:lnTo>
                <a:lnTo>
                  <a:pt x="13139411" y="6269791"/>
                </a:lnTo>
                <a:lnTo>
                  <a:pt x="0" y="6269791"/>
                </a:lnTo>
                <a:lnTo>
                  <a:pt x="0" y="0"/>
                </a:lnTo>
                <a:close/>
              </a:path>
            </a:pathLst>
          </a:custGeom>
          <a:blipFill>
            <a:blip r:embed="rId3"/>
            <a:stretch>
              <a:fillRect l="0" t="0" r="-39028" b="-17891"/>
            </a:stretch>
          </a:blipFill>
          <a:ln w="38100" cap="sq">
            <a:solidFill>
              <a:srgbClr val="B3B2CB"/>
            </a:solidFill>
            <a:prstDash val="solid"/>
            <a:miter/>
          </a:ln>
        </p:spPr>
      </p:sp>
      <p:sp>
        <p:nvSpPr>
          <p:cNvPr name="AutoShape 4" id="4"/>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5" id="5"/>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4"/>
            <a:stretch>
              <a:fillRect l="0" t="0" r="0" b="0"/>
            </a:stretch>
          </a:blipFill>
        </p:spPr>
      </p:sp>
      <p:sp>
        <p:nvSpPr>
          <p:cNvPr name="Freeform 6" id="6"/>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5"/>
            <a:stretch>
              <a:fillRect l="0" t="0" r="0" b="0"/>
            </a:stretch>
          </a:blipFill>
        </p:spPr>
      </p:sp>
      <p:grpSp>
        <p:nvGrpSpPr>
          <p:cNvPr name="Group 7" id="7"/>
          <p:cNvGrpSpPr/>
          <p:nvPr/>
        </p:nvGrpSpPr>
        <p:grpSpPr>
          <a:xfrm rot="0">
            <a:off x="278580" y="5143500"/>
            <a:ext cx="3836220" cy="2697003"/>
            <a:chOff x="0" y="0"/>
            <a:chExt cx="1010362" cy="710322"/>
          </a:xfrm>
        </p:grpSpPr>
        <p:sp>
          <p:nvSpPr>
            <p:cNvPr name="Freeform 8" id="8"/>
            <p:cNvSpPr/>
            <p:nvPr/>
          </p:nvSpPr>
          <p:spPr>
            <a:xfrm flipH="false" flipV="false" rot="0">
              <a:off x="0" y="0"/>
              <a:ext cx="1010362" cy="710322"/>
            </a:xfrm>
            <a:custGeom>
              <a:avLst/>
              <a:gdLst/>
              <a:ahLst/>
              <a:cxnLst/>
              <a:rect r="r" b="b" t="t" l="l"/>
              <a:pathLst>
                <a:path h="710322" w="1010362">
                  <a:moveTo>
                    <a:pt x="0" y="0"/>
                  </a:moveTo>
                  <a:lnTo>
                    <a:pt x="1010362" y="0"/>
                  </a:lnTo>
                  <a:lnTo>
                    <a:pt x="1010362" y="710322"/>
                  </a:lnTo>
                  <a:lnTo>
                    <a:pt x="0" y="710322"/>
                  </a:lnTo>
                  <a:close/>
                </a:path>
              </a:pathLst>
            </a:custGeom>
            <a:solidFill>
              <a:srgbClr val="F3F3F3"/>
            </a:solidFill>
            <a:ln w="38100" cap="sq">
              <a:solidFill>
                <a:srgbClr val="B3B2CB"/>
              </a:solidFill>
              <a:prstDash val="solid"/>
              <a:miter/>
            </a:ln>
          </p:spPr>
        </p:sp>
        <p:sp>
          <p:nvSpPr>
            <p:cNvPr name="TextBox 9" id="9"/>
            <p:cNvSpPr txBox="true"/>
            <p:nvPr/>
          </p:nvSpPr>
          <p:spPr>
            <a:xfrm>
              <a:off x="0" y="-47625"/>
              <a:ext cx="1010362" cy="757947"/>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598663" y="5315733"/>
            <a:ext cx="430037" cy="430037"/>
          </a:xfrm>
          <a:custGeom>
            <a:avLst/>
            <a:gdLst/>
            <a:ahLst/>
            <a:cxnLst/>
            <a:rect r="r" b="b" t="t" l="l"/>
            <a:pathLst>
              <a:path h="430037" w="430037">
                <a:moveTo>
                  <a:pt x="0" y="0"/>
                </a:moveTo>
                <a:lnTo>
                  <a:pt x="430037" y="0"/>
                </a:lnTo>
                <a:lnTo>
                  <a:pt x="430037" y="430037"/>
                </a:lnTo>
                <a:lnTo>
                  <a:pt x="0" y="430037"/>
                </a:lnTo>
                <a:lnTo>
                  <a:pt x="0" y="0"/>
                </a:lnTo>
                <a:close/>
              </a:path>
            </a:pathLst>
          </a:custGeom>
          <a:blipFill>
            <a:blip r:embed="rId6"/>
            <a:stretch>
              <a:fillRect l="0" t="0" r="0" b="0"/>
            </a:stretch>
          </a:blipFill>
        </p:spPr>
      </p:sp>
      <p:sp>
        <p:nvSpPr>
          <p:cNvPr name="TextBox 11" id="11"/>
          <p:cNvSpPr txBox="true"/>
          <p:nvPr/>
        </p:nvSpPr>
        <p:spPr>
          <a:xfrm rot="0">
            <a:off x="278580" y="2086093"/>
            <a:ext cx="842900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REPORT 01</a:t>
            </a:r>
          </a:p>
        </p:txBody>
      </p:sp>
      <p:sp>
        <p:nvSpPr>
          <p:cNvPr name="TextBox 12" id="12"/>
          <p:cNvSpPr txBox="true"/>
          <p:nvPr/>
        </p:nvSpPr>
        <p:spPr>
          <a:xfrm rot="0">
            <a:off x="1234901" y="5406044"/>
            <a:ext cx="2673697" cy="339725"/>
          </a:xfrm>
          <a:prstGeom prst="rect">
            <a:avLst/>
          </a:prstGeom>
        </p:spPr>
        <p:txBody>
          <a:bodyPr anchor="t" rtlCol="false" tIns="0" lIns="0" bIns="0" rIns="0">
            <a:spAutoFit/>
          </a:bodyPr>
          <a:lstStyle/>
          <a:p>
            <a:pPr algn="l">
              <a:lnSpc>
                <a:spcPts val="2799"/>
              </a:lnSpc>
              <a:spcBef>
                <a:spcPct val="0"/>
              </a:spcBef>
            </a:pPr>
            <a:r>
              <a:rPr lang="en-US" b="true" sz="1999">
                <a:solidFill>
                  <a:srgbClr val="000000"/>
                </a:solidFill>
                <a:latin typeface="League Spartan"/>
                <a:ea typeface="League Spartan"/>
                <a:cs typeface="League Spartan"/>
                <a:sym typeface="League Spartan"/>
              </a:rPr>
              <a:t>FILTER PARAMETERS</a:t>
            </a:r>
          </a:p>
        </p:txBody>
      </p:sp>
      <p:sp>
        <p:nvSpPr>
          <p:cNvPr name="TextBox 13" id="13"/>
          <p:cNvSpPr txBox="true"/>
          <p:nvPr/>
        </p:nvSpPr>
        <p:spPr>
          <a:xfrm rot="0">
            <a:off x="1304039" y="5984060"/>
            <a:ext cx="2231465" cy="1564005"/>
          </a:xfrm>
          <a:prstGeom prst="rect">
            <a:avLst/>
          </a:prstGeom>
        </p:spPr>
        <p:txBody>
          <a:bodyPr anchor="t" rtlCol="false" tIns="0" lIns="0" bIns="0" rIns="0">
            <a:spAutoFit/>
          </a:bodyPr>
          <a:lstStyle/>
          <a:p>
            <a:pPr algn="l">
              <a:lnSpc>
                <a:spcPts val="2519"/>
              </a:lnSpc>
            </a:pPr>
            <a:r>
              <a:rPr lang="en-US" sz="1799" spc="-84" b="true">
                <a:solidFill>
                  <a:srgbClr val="004AAD"/>
                </a:solidFill>
                <a:latin typeface="Open Sauce Bold"/>
                <a:ea typeface="Open Sauce Bold"/>
                <a:cs typeface="Open Sauce Bold"/>
                <a:sym typeface="Open Sauce Bold"/>
              </a:rPr>
              <a:t>POID</a:t>
            </a:r>
          </a:p>
          <a:p>
            <a:pPr algn="l">
              <a:lnSpc>
                <a:spcPts val="2519"/>
              </a:lnSpc>
            </a:pPr>
          </a:p>
          <a:p>
            <a:pPr algn="l">
              <a:lnSpc>
                <a:spcPts val="2519"/>
              </a:lnSpc>
            </a:pPr>
            <a:r>
              <a:rPr lang="en-US" sz="1799" spc="-84" b="true">
                <a:solidFill>
                  <a:srgbClr val="004AAD"/>
                </a:solidFill>
                <a:latin typeface="Open Sauce Bold"/>
                <a:ea typeface="Open Sauce Bold"/>
                <a:cs typeface="Open Sauce Bold"/>
                <a:sym typeface="Open Sauce Bold"/>
              </a:rPr>
              <a:t>Start Date</a:t>
            </a:r>
          </a:p>
          <a:p>
            <a:pPr algn="l">
              <a:lnSpc>
                <a:spcPts val="2519"/>
              </a:lnSpc>
            </a:pPr>
          </a:p>
          <a:p>
            <a:pPr algn="l">
              <a:lnSpc>
                <a:spcPts val="2519"/>
              </a:lnSpc>
            </a:pPr>
            <a:r>
              <a:rPr lang="en-US" sz="1799" spc="-84" b="true">
                <a:solidFill>
                  <a:srgbClr val="004AAD"/>
                </a:solidFill>
                <a:latin typeface="Open Sauce Bold"/>
                <a:ea typeface="Open Sauce Bold"/>
                <a:cs typeface="Open Sauce Bold"/>
                <a:sym typeface="Open Sauce Bold"/>
              </a:rPr>
              <a:t>End Date</a:t>
            </a:r>
          </a:p>
        </p:txBody>
      </p:sp>
      <p:sp>
        <p:nvSpPr>
          <p:cNvPr name="Freeform 14" id="14"/>
          <p:cNvSpPr/>
          <p:nvPr/>
        </p:nvSpPr>
        <p:spPr>
          <a:xfrm flipH="false" flipV="false" rot="0">
            <a:off x="559297" y="5902078"/>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
        <p:nvSpPr>
          <p:cNvPr name="Freeform 15" id="15"/>
          <p:cNvSpPr/>
          <p:nvPr/>
        </p:nvSpPr>
        <p:spPr>
          <a:xfrm flipH="false" flipV="false" rot="0">
            <a:off x="598663" y="6492002"/>
            <a:ext cx="508770" cy="508770"/>
          </a:xfrm>
          <a:custGeom>
            <a:avLst/>
            <a:gdLst/>
            <a:ahLst/>
            <a:cxnLst/>
            <a:rect r="r" b="b" t="t" l="l"/>
            <a:pathLst>
              <a:path h="508770" w="508770">
                <a:moveTo>
                  <a:pt x="0" y="0"/>
                </a:moveTo>
                <a:lnTo>
                  <a:pt x="508770" y="0"/>
                </a:lnTo>
                <a:lnTo>
                  <a:pt x="508770" y="508769"/>
                </a:lnTo>
                <a:lnTo>
                  <a:pt x="0" y="508769"/>
                </a:lnTo>
                <a:lnTo>
                  <a:pt x="0" y="0"/>
                </a:lnTo>
                <a:close/>
              </a:path>
            </a:pathLst>
          </a:custGeom>
          <a:blipFill>
            <a:blip r:embed="rId7"/>
            <a:stretch>
              <a:fillRect l="0" t="0" r="0" b="0"/>
            </a:stretch>
          </a:blipFill>
        </p:spPr>
      </p:sp>
      <p:sp>
        <p:nvSpPr>
          <p:cNvPr name="Freeform 16" id="16"/>
          <p:cNvSpPr/>
          <p:nvPr/>
        </p:nvSpPr>
        <p:spPr>
          <a:xfrm flipH="false" flipV="false" rot="0">
            <a:off x="559297" y="7153171"/>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3" id="3"/>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2"/>
            <a:stretch>
              <a:fillRect l="0" t="0" r="0" b="0"/>
            </a:stretch>
          </a:blipFill>
        </p:spPr>
      </p:sp>
      <p:sp>
        <p:nvSpPr>
          <p:cNvPr name="Freeform 4" id="4"/>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3"/>
            <a:stretch>
              <a:fillRect l="0" t="0" r="0" b="0"/>
            </a:stretch>
          </a:blipFill>
        </p:spPr>
      </p:sp>
      <p:grpSp>
        <p:nvGrpSpPr>
          <p:cNvPr name="Group 5" id="5"/>
          <p:cNvGrpSpPr/>
          <p:nvPr/>
        </p:nvGrpSpPr>
        <p:grpSpPr>
          <a:xfrm rot="0">
            <a:off x="278580" y="5143500"/>
            <a:ext cx="3836220" cy="2478128"/>
            <a:chOff x="0" y="0"/>
            <a:chExt cx="1010362" cy="652676"/>
          </a:xfrm>
        </p:grpSpPr>
        <p:sp>
          <p:nvSpPr>
            <p:cNvPr name="Freeform 6" id="6"/>
            <p:cNvSpPr/>
            <p:nvPr/>
          </p:nvSpPr>
          <p:spPr>
            <a:xfrm flipH="false" flipV="false" rot="0">
              <a:off x="0" y="0"/>
              <a:ext cx="1010362" cy="652676"/>
            </a:xfrm>
            <a:custGeom>
              <a:avLst/>
              <a:gdLst/>
              <a:ahLst/>
              <a:cxnLst/>
              <a:rect r="r" b="b" t="t" l="l"/>
              <a:pathLst>
                <a:path h="652676" w="1010362">
                  <a:moveTo>
                    <a:pt x="0" y="0"/>
                  </a:moveTo>
                  <a:lnTo>
                    <a:pt x="1010362" y="0"/>
                  </a:lnTo>
                  <a:lnTo>
                    <a:pt x="1010362" y="652676"/>
                  </a:lnTo>
                  <a:lnTo>
                    <a:pt x="0" y="652676"/>
                  </a:lnTo>
                  <a:close/>
                </a:path>
              </a:pathLst>
            </a:custGeom>
            <a:solidFill>
              <a:srgbClr val="F3F3F3"/>
            </a:solidFill>
            <a:ln w="38100" cap="sq">
              <a:solidFill>
                <a:srgbClr val="B3B2CB"/>
              </a:solidFill>
              <a:prstDash val="solid"/>
              <a:miter/>
            </a:ln>
          </p:spPr>
        </p:sp>
        <p:sp>
          <p:nvSpPr>
            <p:cNvPr name="TextBox 7" id="7"/>
            <p:cNvSpPr txBox="true"/>
            <p:nvPr/>
          </p:nvSpPr>
          <p:spPr>
            <a:xfrm>
              <a:off x="0" y="-47625"/>
              <a:ext cx="1010362" cy="700301"/>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598663" y="5315733"/>
            <a:ext cx="430037" cy="430037"/>
          </a:xfrm>
          <a:custGeom>
            <a:avLst/>
            <a:gdLst/>
            <a:ahLst/>
            <a:cxnLst/>
            <a:rect r="r" b="b" t="t" l="l"/>
            <a:pathLst>
              <a:path h="430037" w="430037">
                <a:moveTo>
                  <a:pt x="0" y="0"/>
                </a:moveTo>
                <a:lnTo>
                  <a:pt x="430037" y="0"/>
                </a:lnTo>
                <a:lnTo>
                  <a:pt x="430037" y="430037"/>
                </a:lnTo>
                <a:lnTo>
                  <a:pt x="0" y="430037"/>
                </a:lnTo>
                <a:lnTo>
                  <a:pt x="0" y="0"/>
                </a:lnTo>
                <a:close/>
              </a:path>
            </a:pathLst>
          </a:custGeom>
          <a:blipFill>
            <a:blip r:embed="rId4"/>
            <a:stretch>
              <a:fillRect l="0" t="0" r="0" b="0"/>
            </a:stretch>
          </a:blipFill>
        </p:spPr>
      </p:sp>
      <p:sp>
        <p:nvSpPr>
          <p:cNvPr name="Freeform 9" id="9"/>
          <p:cNvSpPr/>
          <p:nvPr/>
        </p:nvSpPr>
        <p:spPr>
          <a:xfrm flipH="false" flipV="false" rot="0">
            <a:off x="5704543" y="2303460"/>
            <a:ext cx="11554757" cy="7801523"/>
          </a:xfrm>
          <a:custGeom>
            <a:avLst/>
            <a:gdLst/>
            <a:ahLst/>
            <a:cxnLst/>
            <a:rect r="r" b="b" t="t" l="l"/>
            <a:pathLst>
              <a:path h="7801523" w="11554757">
                <a:moveTo>
                  <a:pt x="0" y="0"/>
                </a:moveTo>
                <a:lnTo>
                  <a:pt x="11554757" y="0"/>
                </a:lnTo>
                <a:lnTo>
                  <a:pt x="11554757" y="7801523"/>
                </a:lnTo>
                <a:lnTo>
                  <a:pt x="0" y="7801523"/>
                </a:lnTo>
                <a:lnTo>
                  <a:pt x="0" y="0"/>
                </a:lnTo>
                <a:close/>
              </a:path>
            </a:pathLst>
          </a:custGeom>
          <a:blipFill>
            <a:blip r:embed="rId5"/>
            <a:stretch>
              <a:fillRect l="0" t="0" r="-67059" b="0"/>
            </a:stretch>
          </a:blipFill>
        </p:spPr>
      </p:sp>
      <p:sp>
        <p:nvSpPr>
          <p:cNvPr name="TextBox 10" id="10"/>
          <p:cNvSpPr txBox="true"/>
          <p:nvPr/>
        </p:nvSpPr>
        <p:spPr>
          <a:xfrm rot="0">
            <a:off x="278580" y="2086093"/>
            <a:ext cx="842900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REPORT 02</a:t>
            </a:r>
          </a:p>
        </p:txBody>
      </p:sp>
      <p:sp>
        <p:nvSpPr>
          <p:cNvPr name="TextBox 11" id="11"/>
          <p:cNvSpPr txBox="true"/>
          <p:nvPr/>
        </p:nvSpPr>
        <p:spPr>
          <a:xfrm rot="0">
            <a:off x="1234901" y="5406044"/>
            <a:ext cx="2673697" cy="339725"/>
          </a:xfrm>
          <a:prstGeom prst="rect">
            <a:avLst/>
          </a:prstGeom>
        </p:spPr>
        <p:txBody>
          <a:bodyPr anchor="t" rtlCol="false" tIns="0" lIns="0" bIns="0" rIns="0">
            <a:spAutoFit/>
          </a:bodyPr>
          <a:lstStyle/>
          <a:p>
            <a:pPr algn="l">
              <a:lnSpc>
                <a:spcPts val="2799"/>
              </a:lnSpc>
              <a:spcBef>
                <a:spcPct val="0"/>
              </a:spcBef>
            </a:pPr>
            <a:r>
              <a:rPr lang="en-US" b="true" sz="1999">
                <a:solidFill>
                  <a:srgbClr val="000000"/>
                </a:solidFill>
                <a:latin typeface="League Spartan"/>
                <a:ea typeface="League Spartan"/>
                <a:cs typeface="League Spartan"/>
                <a:sym typeface="League Spartan"/>
              </a:rPr>
              <a:t>FILTER PARAMETERS</a:t>
            </a:r>
          </a:p>
        </p:txBody>
      </p:sp>
      <p:sp>
        <p:nvSpPr>
          <p:cNvPr name="TextBox 12" id="12"/>
          <p:cNvSpPr txBox="true"/>
          <p:nvPr/>
        </p:nvSpPr>
        <p:spPr>
          <a:xfrm rot="0">
            <a:off x="1304039" y="6042839"/>
            <a:ext cx="2231465" cy="339725"/>
          </a:xfrm>
          <a:prstGeom prst="rect">
            <a:avLst/>
          </a:prstGeom>
        </p:spPr>
        <p:txBody>
          <a:bodyPr anchor="t" rtlCol="false" tIns="0" lIns="0" bIns="0" rIns="0">
            <a:spAutoFit/>
          </a:bodyPr>
          <a:lstStyle/>
          <a:p>
            <a:pPr algn="l">
              <a:lnSpc>
                <a:spcPts val="2799"/>
              </a:lnSpc>
            </a:pPr>
            <a:r>
              <a:rPr lang="en-US" sz="1999" spc="-93" b="true">
                <a:solidFill>
                  <a:srgbClr val="004AAD"/>
                </a:solidFill>
                <a:latin typeface="Open Sauce Bold"/>
                <a:ea typeface="Open Sauce Bold"/>
                <a:cs typeface="Open Sauce Bold"/>
                <a:sym typeface="Open Sauce Bold"/>
              </a:rPr>
              <a:t>Status</a:t>
            </a:r>
          </a:p>
        </p:txBody>
      </p:sp>
      <p:sp>
        <p:nvSpPr>
          <p:cNvPr name="Freeform 13" id="13"/>
          <p:cNvSpPr/>
          <p:nvPr/>
        </p:nvSpPr>
        <p:spPr>
          <a:xfrm flipH="false" flipV="false" rot="0">
            <a:off x="559297" y="5977367"/>
            <a:ext cx="508770" cy="508770"/>
          </a:xfrm>
          <a:custGeom>
            <a:avLst/>
            <a:gdLst/>
            <a:ahLst/>
            <a:cxnLst/>
            <a:rect r="r" b="b" t="t" l="l"/>
            <a:pathLst>
              <a:path h="508770" w="508770">
                <a:moveTo>
                  <a:pt x="0" y="0"/>
                </a:moveTo>
                <a:lnTo>
                  <a:pt x="508770" y="0"/>
                </a:lnTo>
                <a:lnTo>
                  <a:pt x="508770" y="508769"/>
                </a:lnTo>
                <a:lnTo>
                  <a:pt x="0" y="508769"/>
                </a:lnTo>
                <a:lnTo>
                  <a:pt x="0" y="0"/>
                </a:lnTo>
                <a:close/>
              </a:path>
            </a:pathLst>
          </a:custGeom>
          <a:blipFill>
            <a:blip r:embed="rId6"/>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6213234" y="2190868"/>
            <a:ext cx="11046066" cy="7775338"/>
          </a:xfrm>
          <a:custGeom>
            <a:avLst/>
            <a:gdLst/>
            <a:ahLst/>
            <a:cxnLst/>
            <a:rect r="r" b="b" t="t" l="l"/>
            <a:pathLst>
              <a:path h="7775338" w="11046066">
                <a:moveTo>
                  <a:pt x="0" y="0"/>
                </a:moveTo>
                <a:lnTo>
                  <a:pt x="11046066" y="0"/>
                </a:lnTo>
                <a:lnTo>
                  <a:pt x="11046066" y="7775337"/>
                </a:lnTo>
                <a:lnTo>
                  <a:pt x="0" y="7775337"/>
                </a:lnTo>
                <a:lnTo>
                  <a:pt x="0" y="0"/>
                </a:lnTo>
                <a:close/>
              </a:path>
            </a:pathLst>
          </a:custGeom>
          <a:blipFill>
            <a:blip r:embed="rId5"/>
            <a:stretch>
              <a:fillRect l="0" t="0" r="-73904" b="0"/>
            </a:stretch>
          </a:blipFill>
          <a:ln w="38100" cap="sq">
            <a:solidFill>
              <a:srgbClr val="B3B2CB"/>
            </a:solidFill>
            <a:prstDash val="solid"/>
            <a:miter/>
          </a:ln>
        </p:spPr>
      </p:sp>
      <p:sp>
        <p:nvSpPr>
          <p:cNvPr name="TextBox 7" id="7"/>
          <p:cNvSpPr txBox="true"/>
          <p:nvPr/>
        </p:nvSpPr>
        <p:spPr>
          <a:xfrm rot="0">
            <a:off x="278580" y="2086093"/>
            <a:ext cx="842900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REPORT 03</a:t>
            </a:r>
          </a:p>
        </p:txBody>
      </p:sp>
      <p:grpSp>
        <p:nvGrpSpPr>
          <p:cNvPr name="Group 8" id="8"/>
          <p:cNvGrpSpPr/>
          <p:nvPr/>
        </p:nvGrpSpPr>
        <p:grpSpPr>
          <a:xfrm rot="0">
            <a:off x="837836" y="5143500"/>
            <a:ext cx="3836220" cy="3107393"/>
            <a:chOff x="0" y="0"/>
            <a:chExt cx="1010362" cy="818408"/>
          </a:xfrm>
        </p:grpSpPr>
        <p:sp>
          <p:nvSpPr>
            <p:cNvPr name="Freeform 9" id="9"/>
            <p:cNvSpPr/>
            <p:nvPr/>
          </p:nvSpPr>
          <p:spPr>
            <a:xfrm flipH="false" flipV="false" rot="0">
              <a:off x="0" y="0"/>
              <a:ext cx="1010362" cy="818408"/>
            </a:xfrm>
            <a:custGeom>
              <a:avLst/>
              <a:gdLst/>
              <a:ahLst/>
              <a:cxnLst/>
              <a:rect r="r" b="b" t="t" l="l"/>
              <a:pathLst>
                <a:path h="818408" w="1010362">
                  <a:moveTo>
                    <a:pt x="0" y="0"/>
                  </a:moveTo>
                  <a:lnTo>
                    <a:pt x="1010362" y="0"/>
                  </a:lnTo>
                  <a:lnTo>
                    <a:pt x="1010362" y="818408"/>
                  </a:lnTo>
                  <a:lnTo>
                    <a:pt x="0" y="818408"/>
                  </a:lnTo>
                  <a:close/>
                </a:path>
              </a:pathLst>
            </a:custGeom>
            <a:solidFill>
              <a:srgbClr val="F3F3F3"/>
            </a:solidFill>
            <a:ln w="38100" cap="sq">
              <a:solidFill>
                <a:srgbClr val="B3B2CB"/>
              </a:solidFill>
              <a:prstDash val="solid"/>
              <a:miter/>
            </a:ln>
          </p:spPr>
        </p:sp>
        <p:sp>
          <p:nvSpPr>
            <p:cNvPr name="TextBox 10" id="10"/>
            <p:cNvSpPr txBox="true"/>
            <p:nvPr/>
          </p:nvSpPr>
          <p:spPr>
            <a:xfrm>
              <a:off x="0" y="-47625"/>
              <a:ext cx="1010362" cy="8660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129344" y="5315733"/>
            <a:ext cx="430037" cy="430037"/>
          </a:xfrm>
          <a:custGeom>
            <a:avLst/>
            <a:gdLst/>
            <a:ahLst/>
            <a:cxnLst/>
            <a:rect r="r" b="b" t="t" l="l"/>
            <a:pathLst>
              <a:path h="430037" w="430037">
                <a:moveTo>
                  <a:pt x="0" y="0"/>
                </a:moveTo>
                <a:lnTo>
                  <a:pt x="430037" y="0"/>
                </a:lnTo>
                <a:lnTo>
                  <a:pt x="430037" y="430037"/>
                </a:lnTo>
                <a:lnTo>
                  <a:pt x="0" y="430037"/>
                </a:lnTo>
                <a:lnTo>
                  <a:pt x="0" y="0"/>
                </a:lnTo>
                <a:close/>
              </a:path>
            </a:pathLst>
          </a:custGeom>
          <a:blipFill>
            <a:blip r:embed="rId6"/>
            <a:stretch>
              <a:fillRect l="0" t="0" r="0" b="0"/>
            </a:stretch>
          </a:blipFill>
        </p:spPr>
      </p:sp>
      <p:sp>
        <p:nvSpPr>
          <p:cNvPr name="TextBox 12" id="12"/>
          <p:cNvSpPr txBox="true"/>
          <p:nvPr/>
        </p:nvSpPr>
        <p:spPr>
          <a:xfrm rot="0">
            <a:off x="1765582" y="5406044"/>
            <a:ext cx="2673697" cy="339725"/>
          </a:xfrm>
          <a:prstGeom prst="rect">
            <a:avLst/>
          </a:prstGeom>
        </p:spPr>
        <p:txBody>
          <a:bodyPr anchor="t" rtlCol="false" tIns="0" lIns="0" bIns="0" rIns="0">
            <a:spAutoFit/>
          </a:bodyPr>
          <a:lstStyle/>
          <a:p>
            <a:pPr algn="l">
              <a:lnSpc>
                <a:spcPts val="2799"/>
              </a:lnSpc>
              <a:spcBef>
                <a:spcPct val="0"/>
              </a:spcBef>
            </a:pPr>
            <a:r>
              <a:rPr lang="en-US" b="true" sz="1999">
                <a:solidFill>
                  <a:srgbClr val="000000"/>
                </a:solidFill>
                <a:latin typeface="League Spartan"/>
                <a:ea typeface="League Spartan"/>
                <a:cs typeface="League Spartan"/>
                <a:sym typeface="League Spartan"/>
              </a:rPr>
              <a:t>FILTER PARAMETERS</a:t>
            </a:r>
          </a:p>
        </p:txBody>
      </p:sp>
      <p:sp>
        <p:nvSpPr>
          <p:cNvPr name="TextBox 13" id="13"/>
          <p:cNvSpPr txBox="true"/>
          <p:nvPr/>
        </p:nvSpPr>
        <p:spPr>
          <a:xfrm rot="0">
            <a:off x="1834720" y="5974535"/>
            <a:ext cx="2604559" cy="1828657"/>
          </a:xfrm>
          <a:prstGeom prst="rect">
            <a:avLst/>
          </a:prstGeom>
        </p:spPr>
        <p:txBody>
          <a:bodyPr anchor="t" rtlCol="false" tIns="0" lIns="0" bIns="0" rIns="0">
            <a:spAutoFit/>
          </a:bodyPr>
          <a:lstStyle/>
          <a:p>
            <a:pPr algn="l">
              <a:lnSpc>
                <a:spcPts val="2941"/>
              </a:lnSpc>
            </a:pPr>
            <a:r>
              <a:rPr lang="en-US" sz="2100" spc="-98" b="true">
                <a:solidFill>
                  <a:srgbClr val="004AAD"/>
                </a:solidFill>
                <a:latin typeface="Open Sauce Bold"/>
                <a:ea typeface="Open Sauce Bold"/>
                <a:cs typeface="Open Sauce Bold"/>
                <a:sym typeface="Open Sauce Bold"/>
              </a:rPr>
              <a:t>Result Filter</a:t>
            </a:r>
          </a:p>
          <a:p>
            <a:pPr algn="l">
              <a:lnSpc>
                <a:spcPts val="2941"/>
              </a:lnSpc>
            </a:pPr>
          </a:p>
          <a:p>
            <a:pPr algn="l">
              <a:lnSpc>
                <a:spcPts val="2941"/>
              </a:lnSpc>
            </a:pPr>
            <a:r>
              <a:rPr lang="en-US" sz="2100" spc="-98" b="true">
                <a:solidFill>
                  <a:srgbClr val="004AAD"/>
                </a:solidFill>
                <a:latin typeface="Open Sauce Bold"/>
                <a:ea typeface="Open Sauce Bold"/>
                <a:cs typeface="Open Sauce Bold"/>
                <a:sym typeface="Open Sauce Bold"/>
              </a:rPr>
              <a:t>Start Date</a:t>
            </a:r>
          </a:p>
          <a:p>
            <a:pPr algn="l">
              <a:lnSpc>
                <a:spcPts val="2941"/>
              </a:lnSpc>
            </a:pPr>
          </a:p>
          <a:p>
            <a:pPr algn="l">
              <a:lnSpc>
                <a:spcPts val="2941"/>
              </a:lnSpc>
            </a:pPr>
            <a:r>
              <a:rPr lang="en-US" sz="2100" spc="-98" b="true">
                <a:solidFill>
                  <a:srgbClr val="004AAD"/>
                </a:solidFill>
                <a:latin typeface="Open Sauce Bold"/>
                <a:ea typeface="Open Sauce Bold"/>
                <a:cs typeface="Open Sauce Bold"/>
                <a:sym typeface="Open Sauce Bold"/>
              </a:rPr>
              <a:t>End Date</a:t>
            </a:r>
          </a:p>
        </p:txBody>
      </p:sp>
      <p:sp>
        <p:nvSpPr>
          <p:cNvPr name="Freeform 14" id="14"/>
          <p:cNvSpPr/>
          <p:nvPr/>
        </p:nvSpPr>
        <p:spPr>
          <a:xfrm flipH="false" flipV="false" rot="0">
            <a:off x="1129344" y="5919402"/>
            <a:ext cx="508770" cy="508770"/>
          </a:xfrm>
          <a:custGeom>
            <a:avLst/>
            <a:gdLst/>
            <a:ahLst/>
            <a:cxnLst/>
            <a:rect r="r" b="b" t="t" l="l"/>
            <a:pathLst>
              <a:path h="508770" w="508770">
                <a:moveTo>
                  <a:pt x="0" y="0"/>
                </a:moveTo>
                <a:lnTo>
                  <a:pt x="508770" y="0"/>
                </a:lnTo>
                <a:lnTo>
                  <a:pt x="508770" y="508769"/>
                </a:lnTo>
                <a:lnTo>
                  <a:pt x="0" y="508769"/>
                </a:lnTo>
                <a:lnTo>
                  <a:pt x="0" y="0"/>
                </a:lnTo>
                <a:close/>
              </a:path>
            </a:pathLst>
          </a:custGeom>
          <a:blipFill>
            <a:blip r:embed="rId7"/>
            <a:stretch>
              <a:fillRect l="0" t="0" r="0" b="0"/>
            </a:stretch>
          </a:blipFill>
        </p:spPr>
      </p:sp>
      <p:sp>
        <p:nvSpPr>
          <p:cNvPr name="Freeform 15" id="15"/>
          <p:cNvSpPr/>
          <p:nvPr/>
        </p:nvSpPr>
        <p:spPr>
          <a:xfrm flipH="false" flipV="false" rot="0">
            <a:off x="1129344" y="6658291"/>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
        <p:nvSpPr>
          <p:cNvPr name="Freeform 16" id="16"/>
          <p:cNvSpPr/>
          <p:nvPr/>
        </p:nvSpPr>
        <p:spPr>
          <a:xfrm flipH="false" flipV="false" rot="0">
            <a:off x="1129344" y="7395661"/>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5911042" y="2303460"/>
            <a:ext cx="11000427" cy="7692062"/>
          </a:xfrm>
          <a:custGeom>
            <a:avLst/>
            <a:gdLst/>
            <a:ahLst/>
            <a:cxnLst/>
            <a:rect r="r" b="b" t="t" l="l"/>
            <a:pathLst>
              <a:path h="7692062" w="11000427">
                <a:moveTo>
                  <a:pt x="0" y="0"/>
                </a:moveTo>
                <a:lnTo>
                  <a:pt x="11000427" y="0"/>
                </a:lnTo>
                <a:lnTo>
                  <a:pt x="11000427" y="7692062"/>
                </a:lnTo>
                <a:lnTo>
                  <a:pt x="0" y="7692062"/>
                </a:lnTo>
                <a:lnTo>
                  <a:pt x="0" y="0"/>
                </a:lnTo>
                <a:close/>
              </a:path>
            </a:pathLst>
          </a:custGeom>
          <a:blipFill>
            <a:blip r:embed="rId5"/>
            <a:stretch>
              <a:fillRect l="0" t="0" r="-75372" b="0"/>
            </a:stretch>
          </a:blipFill>
          <a:ln w="38100" cap="sq">
            <a:solidFill>
              <a:srgbClr val="D0D7DD"/>
            </a:solidFill>
            <a:prstDash val="solid"/>
            <a:miter/>
          </a:ln>
        </p:spPr>
      </p:sp>
      <p:sp>
        <p:nvSpPr>
          <p:cNvPr name="TextBox 7" id="7"/>
          <p:cNvSpPr txBox="true"/>
          <p:nvPr/>
        </p:nvSpPr>
        <p:spPr>
          <a:xfrm rot="0">
            <a:off x="278580" y="2086093"/>
            <a:ext cx="842900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REPORT 04</a:t>
            </a:r>
          </a:p>
        </p:txBody>
      </p:sp>
      <p:grpSp>
        <p:nvGrpSpPr>
          <p:cNvPr name="Group 8" id="8"/>
          <p:cNvGrpSpPr/>
          <p:nvPr/>
        </p:nvGrpSpPr>
        <p:grpSpPr>
          <a:xfrm rot="0">
            <a:off x="278580" y="5143500"/>
            <a:ext cx="3836220" cy="2478128"/>
            <a:chOff x="0" y="0"/>
            <a:chExt cx="1010362" cy="652676"/>
          </a:xfrm>
        </p:grpSpPr>
        <p:sp>
          <p:nvSpPr>
            <p:cNvPr name="Freeform 9" id="9"/>
            <p:cNvSpPr/>
            <p:nvPr/>
          </p:nvSpPr>
          <p:spPr>
            <a:xfrm flipH="false" flipV="false" rot="0">
              <a:off x="0" y="0"/>
              <a:ext cx="1010362" cy="652676"/>
            </a:xfrm>
            <a:custGeom>
              <a:avLst/>
              <a:gdLst/>
              <a:ahLst/>
              <a:cxnLst/>
              <a:rect r="r" b="b" t="t" l="l"/>
              <a:pathLst>
                <a:path h="652676" w="1010362">
                  <a:moveTo>
                    <a:pt x="0" y="0"/>
                  </a:moveTo>
                  <a:lnTo>
                    <a:pt x="1010362" y="0"/>
                  </a:lnTo>
                  <a:lnTo>
                    <a:pt x="1010362" y="652676"/>
                  </a:lnTo>
                  <a:lnTo>
                    <a:pt x="0" y="652676"/>
                  </a:lnTo>
                  <a:close/>
                </a:path>
              </a:pathLst>
            </a:custGeom>
            <a:solidFill>
              <a:srgbClr val="F3F3F3"/>
            </a:solidFill>
            <a:ln w="38100" cap="sq">
              <a:solidFill>
                <a:srgbClr val="B3B2CB"/>
              </a:solidFill>
              <a:prstDash val="solid"/>
              <a:miter/>
            </a:ln>
          </p:spPr>
        </p:sp>
        <p:sp>
          <p:nvSpPr>
            <p:cNvPr name="TextBox 10" id="10"/>
            <p:cNvSpPr txBox="true"/>
            <p:nvPr/>
          </p:nvSpPr>
          <p:spPr>
            <a:xfrm>
              <a:off x="0" y="-47625"/>
              <a:ext cx="1010362" cy="700301"/>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598663" y="5315733"/>
            <a:ext cx="430037" cy="430037"/>
          </a:xfrm>
          <a:custGeom>
            <a:avLst/>
            <a:gdLst/>
            <a:ahLst/>
            <a:cxnLst/>
            <a:rect r="r" b="b" t="t" l="l"/>
            <a:pathLst>
              <a:path h="430037" w="430037">
                <a:moveTo>
                  <a:pt x="0" y="0"/>
                </a:moveTo>
                <a:lnTo>
                  <a:pt x="430037" y="0"/>
                </a:lnTo>
                <a:lnTo>
                  <a:pt x="430037" y="430037"/>
                </a:lnTo>
                <a:lnTo>
                  <a:pt x="0" y="430037"/>
                </a:lnTo>
                <a:lnTo>
                  <a:pt x="0" y="0"/>
                </a:lnTo>
                <a:close/>
              </a:path>
            </a:pathLst>
          </a:custGeom>
          <a:blipFill>
            <a:blip r:embed="rId6"/>
            <a:stretch>
              <a:fillRect l="0" t="0" r="0" b="0"/>
            </a:stretch>
          </a:blipFill>
        </p:spPr>
      </p:sp>
      <p:sp>
        <p:nvSpPr>
          <p:cNvPr name="TextBox 12" id="12"/>
          <p:cNvSpPr txBox="true"/>
          <p:nvPr/>
        </p:nvSpPr>
        <p:spPr>
          <a:xfrm rot="0">
            <a:off x="1234901" y="5406044"/>
            <a:ext cx="2673697" cy="339725"/>
          </a:xfrm>
          <a:prstGeom prst="rect">
            <a:avLst/>
          </a:prstGeom>
        </p:spPr>
        <p:txBody>
          <a:bodyPr anchor="t" rtlCol="false" tIns="0" lIns="0" bIns="0" rIns="0">
            <a:spAutoFit/>
          </a:bodyPr>
          <a:lstStyle/>
          <a:p>
            <a:pPr algn="l">
              <a:lnSpc>
                <a:spcPts val="2799"/>
              </a:lnSpc>
              <a:spcBef>
                <a:spcPct val="0"/>
              </a:spcBef>
            </a:pPr>
            <a:r>
              <a:rPr lang="en-US" b="true" sz="1999">
                <a:solidFill>
                  <a:srgbClr val="000000"/>
                </a:solidFill>
                <a:latin typeface="League Spartan"/>
                <a:ea typeface="League Spartan"/>
                <a:cs typeface="League Spartan"/>
                <a:sym typeface="League Spartan"/>
              </a:rPr>
              <a:t>FILTER PARAMETERS</a:t>
            </a:r>
          </a:p>
        </p:txBody>
      </p:sp>
      <p:sp>
        <p:nvSpPr>
          <p:cNvPr name="TextBox 13" id="13"/>
          <p:cNvSpPr txBox="true"/>
          <p:nvPr/>
        </p:nvSpPr>
        <p:spPr>
          <a:xfrm rot="0">
            <a:off x="1304039" y="5707670"/>
            <a:ext cx="2231465" cy="1249680"/>
          </a:xfrm>
          <a:prstGeom prst="rect">
            <a:avLst/>
          </a:prstGeom>
        </p:spPr>
        <p:txBody>
          <a:bodyPr anchor="t" rtlCol="false" tIns="0" lIns="0" bIns="0" rIns="0">
            <a:spAutoFit/>
          </a:bodyPr>
          <a:lstStyle/>
          <a:p>
            <a:pPr algn="l">
              <a:lnSpc>
                <a:spcPts val="2519"/>
              </a:lnSpc>
            </a:pPr>
          </a:p>
          <a:p>
            <a:pPr algn="l">
              <a:lnSpc>
                <a:spcPts val="2519"/>
              </a:lnSpc>
            </a:pPr>
            <a:r>
              <a:rPr lang="en-US" sz="1799" spc="-84" b="true">
                <a:solidFill>
                  <a:srgbClr val="004AAD"/>
                </a:solidFill>
                <a:latin typeface="Open Sauce Bold"/>
                <a:ea typeface="Open Sauce Bold"/>
                <a:cs typeface="Open Sauce Bold"/>
                <a:sym typeface="Open Sauce Bold"/>
              </a:rPr>
              <a:t>Start Date</a:t>
            </a:r>
          </a:p>
          <a:p>
            <a:pPr algn="l">
              <a:lnSpc>
                <a:spcPts val="2519"/>
              </a:lnSpc>
            </a:pPr>
          </a:p>
          <a:p>
            <a:pPr algn="l">
              <a:lnSpc>
                <a:spcPts val="2519"/>
              </a:lnSpc>
            </a:pPr>
            <a:r>
              <a:rPr lang="en-US" sz="1799" spc="-84" b="true">
                <a:solidFill>
                  <a:srgbClr val="004AAD"/>
                </a:solidFill>
                <a:latin typeface="Open Sauce Bold"/>
                <a:ea typeface="Open Sauce Bold"/>
                <a:cs typeface="Open Sauce Bold"/>
                <a:sym typeface="Open Sauce Bold"/>
              </a:rPr>
              <a:t>End Date</a:t>
            </a:r>
          </a:p>
        </p:txBody>
      </p:sp>
      <p:sp>
        <p:nvSpPr>
          <p:cNvPr name="Freeform 14" id="14"/>
          <p:cNvSpPr/>
          <p:nvPr/>
        </p:nvSpPr>
        <p:spPr>
          <a:xfrm flipH="false" flipV="false" rot="0">
            <a:off x="559297" y="5902078"/>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
        <p:nvSpPr>
          <p:cNvPr name="Freeform 15" id="15"/>
          <p:cNvSpPr/>
          <p:nvPr/>
        </p:nvSpPr>
        <p:spPr>
          <a:xfrm flipH="false" flipV="false" rot="0">
            <a:off x="598663" y="6563248"/>
            <a:ext cx="508770" cy="508770"/>
          </a:xfrm>
          <a:custGeom>
            <a:avLst/>
            <a:gdLst/>
            <a:ahLst/>
            <a:cxnLst/>
            <a:rect r="r" b="b" t="t" l="l"/>
            <a:pathLst>
              <a:path h="508770" w="508770">
                <a:moveTo>
                  <a:pt x="0" y="0"/>
                </a:moveTo>
                <a:lnTo>
                  <a:pt x="508770" y="0"/>
                </a:lnTo>
                <a:lnTo>
                  <a:pt x="508770" y="508769"/>
                </a:lnTo>
                <a:lnTo>
                  <a:pt x="0" y="508769"/>
                </a:lnTo>
                <a:lnTo>
                  <a:pt x="0" y="0"/>
                </a:lnTo>
                <a:close/>
              </a:path>
            </a:pathLst>
          </a:custGeom>
          <a:blipFill>
            <a:blip r:embed="rId7"/>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5451899" y="2594938"/>
            <a:ext cx="12285368" cy="6669501"/>
          </a:xfrm>
          <a:custGeom>
            <a:avLst/>
            <a:gdLst/>
            <a:ahLst/>
            <a:cxnLst/>
            <a:rect r="r" b="b" t="t" l="l"/>
            <a:pathLst>
              <a:path h="6669501" w="12285368">
                <a:moveTo>
                  <a:pt x="0" y="0"/>
                </a:moveTo>
                <a:lnTo>
                  <a:pt x="12285369" y="0"/>
                </a:lnTo>
                <a:lnTo>
                  <a:pt x="12285369" y="6669501"/>
                </a:lnTo>
                <a:lnTo>
                  <a:pt x="0" y="6669501"/>
                </a:lnTo>
                <a:lnTo>
                  <a:pt x="0" y="0"/>
                </a:lnTo>
                <a:close/>
              </a:path>
            </a:pathLst>
          </a:custGeom>
          <a:blipFill>
            <a:blip r:embed="rId5"/>
            <a:stretch>
              <a:fillRect l="0" t="0" r="0" b="0"/>
            </a:stretch>
          </a:blipFill>
          <a:ln w="38100" cap="sq">
            <a:solidFill>
              <a:srgbClr val="B3B2CB"/>
            </a:solidFill>
            <a:prstDash val="solid"/>
            <a:miter/>
          </a:ln>
        </p:spPr>
      </p:sp>
      <p:sp>
        <p:nvSpPr>
          <p:cNvPr name="TextBox 7" id="7"/>
          <p:cNvSpPr txBox="true"/>
          <p:nvPr/>
        </p:nvSpPr>
        <p:spPr>
          <a:xfrm rot="0">
            <a:off x="278580" y="2086093"/>
            <a:ext cx="842900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REPORT 05</a:t>
            </a:r>
          </a:p>
        </p:txBody>
      </p:sp>
      <p:grpSp>
        <p:nvGrpSpPr>
          <p:cNvPr name="Group 8" id="8"/>
          <p:cNvGrpSpPr/>
          <p:nvPr/>
        </p:nvGrpSpPr>
        <p:grpSpPr>
          <a:xfrm rot="0">
            <a:off x="278580" y="5143500"/>
            <a:ext cx="3836220" cy="2478128"/>
            <a:chOff x="0" y="0"/>
            <a:chExt cx="1010362" cy="652676"/>
          </a:xfrm>
        </p:grpSpPr>
        <p:sp>
          <p:nvSpPr>
            <p:cNvPr name="Freeform 9" id="9"/>
            <p:cNvSpPr/>
            <p:nvPr/>
          </p:nvSpPr>
          <p:spPr>
            <a:xfrm flipH="false" flipV="false" rot="0">
              <a:off x="0" y="0"/>
              <a:ext cx="1010362" cy="652676"/>
            </a:xfrm>
            <a:custGeom>
              <a:avLst/>
              <a:gdLst/>
              <a:ahLst/>
              <a:cxnLst/>
              <a:rect r="r" b="b" t="t" l="l"/>
              <a:pathLst>
                <a:path h="652676" w="1010362">
                  <a:moveTo>
                    <a:pt x="0" y="0"/>
                  </a:moveTo>
                  <a:lnTo>
                    <a:pt x="1010362" y="0"/>
                  </a:lnTo>
                  <a:lnTo>
                    <a:pt x="1010362" y="652676"/>
                  </a:lnTo>
                  <a:lnTo>
                    <a:pt x="0" y="652676"/>
                  </a:lnTo>
                  <a:close/>
                </a:path>
              </a:pathLst>
            </a:custGeom>
            <a:solidFill>
              <a:srgbClr val="F3F3F3"/>
            </a:solidFill>
            <a:ln w="38100" cap="sq">
              <a:solidFill>
                <a:srgbClr val="B3B2CB"/>
              </a:solidFill>
              <a:prstDash val="solid"/>
              <a:miter/>
            </a:ln>
          </p:spPr>
        </p:sp>
        <p:sp>
          <p:nvSpPr>
            <p:cNvPr name="TextBox 10" id="10"/>
            <p:cNvSpPr txBox="true"/>
            <p:nvPr/>
          </p:nvSpPr>
          <p:spPr>
            <a:xfrm>
              <a:off x="0" y="-47625"/>
              <a:ext cx="1010362" cy="700301"/>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598663" y="5315733"/>
            <a:ext cx="430037" cy="430037"/>
          </a:xfrm>
          <a:custGeom>
            <a:avLst/>
            <a:gdLst/>
            <a:ahLst/>
            <a:cxnLst/>
            <a:rect r="r" b="b" t="t" l="l"/>
            <a:pathLst>
              <a:path h="430037" w="430037">
                <a:moveTo>
                  <a:pt x="0" y="0"/>
                </a:moveTo>
                <a:lnTo>
                  <a:pt x="430037" y="0"/>
                </a:lnTo>
                <a:lnTo>
                  <a:pt x="430037" y="430037"/>
                </a:lnTo>
                <a:lnTo>
                  <a:pt x="0" y="430037"/>
                </a:lnTo>
                <a:lnTo>
                  <a:pt x="0" y="0"/>
                </a:lnTo>
                <a:close/>
              </a:path>
            </a:pathLst>
          </a:custGeom>
          <a:blipFill>
            <a:blip r:embed="rId6"/>
            <a:stretch>
              <a:fillRect l="0" t="0" r="0" b="0"/>
            </a:stretch>
          </a:blipFill>
        </p:spPr>
      </p:sp>
      <p:sp>
        <p:nvSpPr>
          <p:cNvPr name="TextBox 12" id="12"/>
          <p:cNvSpPr txBox="true"/>
          <p:nvPr/>
        </p:nvSpPr>
        <p:spPr>
          <a:xfrm rot="0">
            <a:off x="1234901" y="5406044"/>
            <a:ext cx="2673697" cy="339725"/>
          </a:xfrm>
          <a:prstGeom prst="rect">
            <a:avLst/>
          </a:prstGeom>
        </p:spPr>
        <p:txBody>
          <a:bodyPr anchor="t" rtlCol="false" tIns="0" lIns="0" bIns="0" rIns="0">
            <a:spAutoFit/>
          </a:bodyPr>
          <a:lstStyle/>
          <a:p>
            <a:pPr algn="l">
              <a:lnSpc>
                <a:spcPts val="2799"/>
              </a:lnSpc>
              <a:spcBef>
                <a:spcPct val="0"/>
              </a:spcBef>
            </a:pPr>
            <a:r>
              <a:rPr lang="en-US" b="true" sz="1999">
                <a:solidFill>
                  <a:srgbClr val="000000"/>
                </a:solidFill>
                <a:latin typeface="League Spartan"/>
                <a:ea typeface="League Spartan"/>
                <a:cs typeface="League Spartan"/>
                <a:sym typeface="League Spartan"/>
              </a:rPr>
              <a:t>FILTER PARAMETERS</a:t>
            </a:r>
          </a:p>
        </p:txBody>
      </p:sp>
      <p:sp>
        <p:nvSpPr>
          <p:cNvPr name="TextBox 13" id="13"/>
          <p:cNvSpPr txBox="true"/>
          <p:nvPr/>
        </p:nvSpPr>
        <p:spPr>
          <a:xfrm rot="0">
            <a:off x="1304039" y="5984060"/>
            <a:ext cx="2231465" cy="339725"/>
          </a:xfrm>
          <a:prstGeom prst="rect">
            <a:avLst/>
          </a:prstGeom>
        </p:spPr>
        <p:txBody>
          <a:bodyPr anchor="t" rtlCol="false" tIns="0" lIns="0" bIns="0" rIns="0">
            <a:spAutoFit/>
          </a:bodyPr>
          <a:lstStyle/>
          <a:p>
            <a:pPr algn="l">
              <a:lnSpc>
                <a:spcPts val="2799"/>
              </a:lnSpc>
            </a:pPr>
            <a:r>
              <a:rPr lang="en-US" sz="1999" spc="-93" b="true">
                <a:solidFill>
                  <a:srgbClr val="004AAD"/>
                </a:solidFill>
                <a:latin typeface="Open Sauce Bold"/>
                <a:ea typeface="Open Sauce Bold"/>
                <a:cs typeface="Open Sauce Bold"/>
                <a:sym typeface="Open Sauce Bold"/>
              </a:rPr>
              <a:t>Trip ID </a:t>
            </a:r>
          </a:p>
        </p:txBody>
      </p:sp>
      <p:sp>
        <p:nvSpPr>
          <p:cNvPr name="Freeform 14" id="14"/>
          <p:cNvSpPr/>
          <p:nvPr/>
        </p:nvSpPr>
        <p:spPr>
          <a:xfrm flipH="false" flipV="false" rot="0">
            <a:off x="559297" y="5902078"/>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5682214" y="2594938"/>
            <a:ext cx="11885879" cy="6574027"/>
          </a:xfrm>
          <a:custGeom>
            <a:avLst/>
            <a:gdLst/>
            <a:ahLst/>
            <a:cxnLst/>
            <a:rect r="r" b="b" t="t" l="l"/>
            <a:pathLst>
              <a:path h="6574027" w="11885879">
                <a:moveTo>
                  <a:pt x="0" y="0"/>
                </a:moveTo>
                <a:lnTo>
                  <a:pt x="11885879" y="0"/>
                </a:lnTo>
                <a:lnTo>
                  <a:pt x="11885879" y="6574027"/>
                </a:lnTo>
                <a:lnTo>
                  <a:pt x="0" y="6574027"/>
                </a:lnTo>
                <a:lnTo>
                  <a:pt x="0" y="0"/>
                </a:lnTo>
                <a:close/>
              </a:path>
            </a:pathLst>
          </a:custGeom>
          <a:blipFill>
            <a:blip r:embed="rId5"/>
            <a:stretch>
              <a:fillRect l="0" t="0" r="-38605" b="0"/>
            </a:stretch>
          </a:blipFill>
          <a:ln w="38100" cap="sq">
            <a:solidFill>
              <a:srgbClr val="B3B2CB"/>
            </a:solidFill>
            <a:prstDash val="solid"/>
            <a:miter/>
          </a:ln>
        </p:spPr>
      </p:sp>
      <p:grpSp>
        <p:nvGrpSpPr>
          <p:cNvPr name="Group 7" id="7"/>
          <p:cNvGrpSpPr/>
          <p:nvPr/>
        </p:nvGrpSpPr>
        <p:grpSpPr>
          <a:xfrm rot="0">
            <a:off x="278580" y="5143500"/>
            <a:ext cx="3836220" cy="2478128"/>
            <a:chOff x="0" y="0"/>
            <a:chExt cx="1010362" cy="652676"/>
          </a:xfrm>
        </p:grpSpPr>
        <p:sp>
          <p:nvSpPr>
            <p:cNvPr name="Freeform 8" id="8"/>
            <p:cNvSpPr/>
            <p:nvPr/>
          </p:nvSpPr>
          <p:spPr>
            <a:xfrm flipH="false" flipV="false" rot="0">
              <a:off x="0" y="0"/>
              <a:ext cx="1010362" cy="652676"/>
            </a:xfrm>
            <a:custGeom>
              <a:avLst/>
              <a:gdLst/>
              <a:ahLst/>
              <a:cxnLst/>
              <a:rect r="r" b="b" t="t" l="l"/>
              <a:pathLst>
                <a:path h="652676" w="1010362">
                  <a:moveTo>
                    <a:pt x="0" y="0"/>
                  </a:moveTo>
                  <a:lnTo>
                    <a:pt x="1010362" y="0"/>
                  </a:lnTo>
                  <a:lnTo>
                    <a:pt x="1010362" y="652676"/>
                  </a:lnTo>
                  <a:lnTo>
                    <a:pt x="0" y="652676"/>
                  </a:lnTo>
                  <a:close/>
                </a:path>
              </a:pathLst>
            </a:custGeom>
            <a:solidFill>
              <a:srgbClr val="F3F3F3"/>
            </a:solidFill>
            <a:ln w="38100" cap="sq">
              <a:solidFill>
                <a:srgbClr val="B3B2CB"/>
              </a:solidFill>
              <a:prstDash val="solid"/>
              <a:miter/>
            </a:ln>
          </p:spPr>
        </p:sp>
        <p:sp>
          <p:nvSpPr>
            <p:cNvPr name="TextBox 9" id="9"/>
            <p:cNvSpPr txBox="true"/>
            <p:nvPr/>
          </p:nvSpPr>
          <p:spPr>
            <a:xfrm>
              <a:off x="0" y="-47625"/>
              <a:ext cx="1010362" cy="700301"/>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598663" y="5315733"/>
            <a:ext cx="430037" cy="430037"/>
          </a:xfrm>
          <a:custGeom>
            <a:avLst/>
            <a:gdLst/>
            <a:ahLst/>
            <a:cxnLst/>
            <a:rect r="r" b="b" t="t" l="l"/>
            <a:pathLst>
              <a:path h="430037" w="430037">
                <a:moveTo>
                  <a:pt x="0" y="0"/>
                </a:moveTo>
                <a:lnTo>
                  <a:pt x="430037" y="0"/>
                </a:lnTo>
                <a:lnTo>
                  <a:pt x="430037" y="430037"/>
                </a:lnTo>
                <a:lnTo>
                  <a:pt x="0" y="430037"/>
                </a:lnTo>
                <a:lnTo>
                  <a:pt x="0" y="0"/>
                </a:lnTo>
                <a:close/>
              </a:path>
            </a:pathLst>
          </a:custGeom>
          <a:blipFill>
            <a:blip r:embed="rId6"/>
            <a:stretch>
              <a:fillRect l="0" t="0" r="0" b="0"/>
            </a:stretch>
          </a:blipFill>
        </p:spPr>
      </p:sp>
      <p:sp>
        <p:nvSpPr>
          <p:cNvPr name="Freeform 11" id="11"/>
          <p:cNvSpPr/>
          <p:nvPr/>
        </p:nvSpPr>
        <p:spPr>
          <a:xfrm flipH="false" flipV="false" rot="0">
            <a:off x="559297" y="5902078"/>
            <a:ext cx="508770" cy="508770"/>
          </a:xfrm>
          <a:custGeom>
            <a:avLst/>
            <a:gdLst/>
            <a:ahLst/>
            <a:cxnLst/>
            <a:rect r="r" b="b" t="t" l="l"/>
            <a:pathLst>
              <a:path h="508770" w="508770">
                <a:moveTo>
                  <a:pt x="0" y="0"/>
                </a:moveTo>
                <a:lnTo>
                  <a:pt x="508770" y="0"/>
                </a:lnTo>
                <a:lnTo>
                  <a:pt x="508770" y="508770"/>
                </a:lnTo>
                <a:lnTo>
                  <a:pt x="0" y="508770"/>
                </a:lnTo>
                <a:lnTo>
                  <a:pt x="0" y="0"/>
                </a:lnTo>
                <a:close/>
              </a:path>
            </a:pathLst>
          </a:custGeom>
          <a:blipFill>
            <a:blip r:embed="rId7"/>
            <a:stretch>
              <a:fillRect l="0" t="0" r="0" b="0"/>
            </a:stretch>
          </a:blipFill>
        </p:spPr>
      </p:sp>
      <p:sp>
        <p:nvSpPr>
          <p:cNvPr name="TextBox 12" id="12"/>
          <p:cNvSpPr txBox="true"/>
          <p:nvPr/>
        </p:nvSpPr>
        <p:spPr>
          <a:xfrm rot="0">
            <a:off x="278580" y="2086093"/>
            <a:ext cx="842900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REPORT 06</a:t>
            </a:r>
          </a:p>
        </p:txBody>
      </p:sp>
      <p:sp>
        <p:nvSpPr>
          <p:cNvPr name="TextBox 13" id="13"/>
          <p:cNvSpPr txBox="true"/>
          <p:nvPr/>
        </p:nvSpPr>
        <p:spPr>
          <a:xfrm rot="0">
            <a:off x="1234901" y="5406044"/>
            <a:ext cx="2673697" cy="339725"/>
          </a:xfrm>
          <a:prstGeom prst="rect">
            <a:avLst/>
          </a:prstGeom>
        </p:spPr>
        <p:txBody>
          <a:bodyPr anchor="t" rtlCol="false" tIns="0" lIns="0" bIns="0" rIns="0">
            <a:spAutoFit/>
          </a:bodyPr>
          <a:lstStyle/>
          <a:p>
            <a:pPr algn="l">
              <a:lnSpc>
                <a:spcPts val="2799"/>
              </a:lnSpc>
              <a:spcBef>
                <a:spcPct val="0"/>
              </a:spcBef>
            </a:pPr>
            <a:r>
              <a:rPr lang="en-US" b="true" sz="1999">
                <a:solidFill>
                  <a:srgbClr val="000000"/>
                </a:solidFill>
                <a:latin typeface="League Spartan"/>
                <a:ea typeface="League Spartan"/>
                <a:cs typeface="League Spartan"/>
                <a:sym typeface="League Spartan"/>
              </a:rPr>
              <a:t>FILTER PARAMETERS</a:t>
            </a:r>
          </a:p>
        </p:txBody>
      </p:sp>
      <p:sp>
        <p:nvSpPr>
          <p:cNvPr name="TextBox 14" id="14"/>
          <p:cNvSpPr txBox="true"/>
          <p:nvPr/>
        </p:nvSpPr>
        <p:spPr>
          <a:xfrm rot="0">
            <a:off x="1304039" y="5984060"/>
            <a:ext cx="2231465" cy="306705"/>
          </a:xfrm>
          <a:prstGeom prst="rect">
            <a:avLst/>
          </a:prstGeom>
        </p:spPr>
        <p:txBody>
          <a:bodyPr anchor="t" rtlCol="false" tIns="0" lIns="0" bIns="0" rIns="0">
            <a:spAutoFit/>
          </a:bodyPr>
          <a:lstStyle/>
          <a:p>
            <a:pPr algn="l">
              <a:lnSpc>
                <a:spcPts val="2519"/>
              </a:lnSpc>
            </a:pPr>
            <a:r>
              <a:rPr lang="en-US" sz="1799" spc="-84" b="true">
                <a:solidFill>
                  <a:srgbClr val="004AAD"/>
                </a:solidFill>
                <a:latin typeface="Open Sauce Bold"/>
                <a:ea typeface="Open Sauce Bold"/>
                <a:cs typeface="Open Sauce Bold"/>
                <a:sym typeface="Open Sauce Bold"/>
              </a:rPr>
              <a:t>SOID</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a:hlinkClick r:id="rId4" tooltip="https://app.powerbi.com/groups/me/reports/45550a04-5440-4a33-958b-a5af7b12c80a/425b7d6f31ce5923bc72?experience=power-bi"/>
          </p:cNvPr>
          <p:cNvSpPr/>
          <p:nvPr/>
        </p:nvSpPr>
        <p:spPr>
          <a:xfrm flipH="false" flipV="false" rot="0">
            <a:off x="10906054" y="2254469"/>
            <a:ext cx="5778062" cy="5778062"/>
          </a:xfrm>
          <a:custGeom>
            <a:avLst/>
            <a:gdLst/>
            <a:ahLst/>
            <a:cxnLst/>
            <a:rect r="r" b="b" t="t" l="l"/>
            <a:pathLst>
              <a:path h="5778062" w="5778062">
                <a:moveTo>
                  <a:pt x="0" y="0"/>
                </a:moveTo>
                <a:lnTo>
                  <a:pt x="5778063" y="0"/>
                </a:lnTo>
                <a:lnTo>
                  <a:pt x="5778063" y="5778062"/>
                </a:lnTo>
                <a:lnTo>
                  <a:pt x="0" y="5778062"/>
                </a:lnTo>
                <a:lnTo>
                  <a:pt x="0" y="0"/>
                </a:lnTo>
                <a:close/>
              </a:path>
            </a:pathLst>
          </a:custGeom>
          <a:blipFill>
            <a:blip r:embed="rId3"/>
            <a:stretch>
              <a:fillRect l="0" t="0" r="0" b="0"/>
            </a:stretch>
          </a:blipFill>
        </p:spPr>
      </p:sp>
      <p:sp>
        <p:nvSpPr>
          <p:cNvPr name="TextBox 4" id="4"/>
          <p:cNvSpPr txBox="true"/>
          <p:nvPr/>
        </p:nvSpPr>
        <p:spPr>
          <a:xfrm rot="0">
            <a:off x="1466449" y="3703606"/>
            <a:ext cx="6513848" cy="1855890"/>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POWER BI DASHBOARDS</a:t>
            </a:r>
          </a:p>
        </p:txBody>
      </p:sp>
      <p:grpSp>
        <p:nvGrpSpPr>
          <p:cNvPr name="Group 5" id="5"/>
          <p:cNvGrpSpPr/>
          <p:nvPr/>
        </p:nvGrpSpPr>
        <p:grpSpPr>
          <a:xfrm rot="0">
            <a:off x="1466449" y="6316736"/>
            <a:ext cx="6098672" cy="232991"/>
            <a:chOff x="0" y="0"/>
            <a:chExt cx="1606235" cy="61364"/>
          </a:xfrm>
        </p:grpSpPr>
        <p:sp>
          <p:nvSpPr>
            <p:cNvPr name="Freeform 6" id="6"/>
            <p:cNvSpPr/>
            <p:nvPr/>
          </p:nvSpPr>
          <p:spPr>
            <a:xfrm flipH="false" flipV="false" rot="0">
              <a:off x="0" y="0"/>
              <a:ext cx="1606235" cy="61364"/>
            </a:xfrm>
            <a:custGeom>
              <a:avLst/>
              <a:gdLst/>
              <a:ahLst/>
              <a:cxnLst/>
              <a:rect r="r" b="b" t="t" l="l"/>
              <a:pathLst>
                <a:path h="61364" w="1606235">
                  <a:moveTo>
                    <a:pt x="0" y="0"/>
                  </a:moveTo>
                  <a:lnTo>
                    <a:pt x="1606235" y="0"/>
                  </a:lnTo>
                  <a:lnTo>
                    <a:pt x="1606235" y="61364"/>
                  </a:lnTo>
                  <a:lnTo>
                    <a:pt x="0" y="61364"/>
                  </a:lnTo>
                  <a:close/>
                </a:path>
              </a:pathLst>
            </a:custGeom>
            <a:solidFill>
              <a:srgbClr val="004AAD"/>
            </a:solidFill>
          </p:spPr>
        </p:sp>
        <p:sp>
          <p:nvSpPr>
            <p:cNvPr name="TextBox 7" id="7"/>
            <p:cNvSpPr txBox="true"/>
            <p:nvPr/>
          </p:nvSpPr>
          <p:spPr>
            <a:xfrm>
              <a:off x="0" y="-47625"/>
              <a:ext cx="1606235" cy="10898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9" id="9"/>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5"/>
            <a:stretch>
              <a:fillRect l="0" t="0" r="0" b="0"/>
            </a:stretch>
          </a:blipFill>
        </p:spPr>
      </p:sp>
      <p:sp>
        <p:nvSpPr>
          <p:cNvPr name="Freeform 10" id="10"/>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6"/>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0978" t="0" r="-11497"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07728" y="236827"/>
            <a:ext cx="17472544" cy="9813347"/>
          </a:xfrm>
          <a:custGeom>
            <a:avLst/>
            <a:gdLst/>
            <a:ahLst/>
            <a:cxnLst/>
            <a:rect r="r" b="b" t="t" l="l"/>
            <a:pathLst>
              <a:path h="9813347" w="17472544">
                <a:moveTo>
                  <a:pt x="0" y="0"/>
                </a:moveTo>
                <a:lnTo>
                  <a:pt x="17472544" y="0"/>
                </a:lnTo>
                <a:lnTo>
                  <a:pt x="17472544" y="9813346"/>
                </a:lnTo>
                <a:lnTo>
                  <a:pt x="0" y="9813346"/>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7238" y="0"/>
            <a:ext cx="18140762" cy="10261829"/>
          </a:xfrm>
          <a:custGeom>
            <a:avLst/>
            <a:gdLst/>
            <a:ahLst/>
            <a:cxnLst/>
            <a:rect r="r" b="b" t="t" l="l"/>
            <a:pathLst>
              <a:path h="10261829" w="18140762">
                <a:moveTo>
                  <a:pt x="0" y="0"/>
                </a:moveTo>
                <a:lnTo>
                  <a:pt x="18140762" y="0"/>
                </a:lnTo>
                <a:lnTo>
                  <a:pt x="18140762" y="10261829"/>
                </a:lnTo>
                <a:lnTo>
                  <a:pt x="0" y="10261829"/>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152769"/>
            <a:ext cx="18288000" cy="10293035"/>
          </a:xfrm>
          <a:custGeom>
            <a:avLst/>
            <a:gdLst/>
            <a:ahLst/>
            <a:cxnLst/>
            <a:rect r="r" b="b" t="t" l="l"/>
            <a:pathLst>
              <a:path h="10293035" w="18288000">
                <a:moveTo>
                  <a:pt x="0" y="0"/>
                </a:moveTo>
                <a:lnTo>
                  <a:pt x="18288000" y="0"/>
                </a:lnTo>
                <a:lnTo>
                  <a:pt x="18288000" y="10293035"/>
                </a:lnTo>
                <a:lnTo>
                  <a:pt x="0" y="10293035"/>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5243" y="160609"/>
            <a:ext cx="18212757" cy="10220661"/>
          </a:xfrm>
          <a:custGeom>
            <a:avLst/>
            <a:gdLst/>
            <a:ahLst/>
            <a:cxnLst/>
            <a:rect r="r" b="b" t="t" l="l"/>
            <a:pathLst>
              <a:path h="10220661" w="18212757">
                <a:moveTo>
                  <a:pt x="0" y="0"/>
                </a:moveTo>
                <a:lnTo>
                  <a:pt x="18212757" y="0"/>
                </a:lnTo>
                <a:lnTo>
                  <a:pt x="18212757" y="10220661"/>
                </a:lnTo>
                <a:lnTo>
                  <a:pt x="0" y="10220661"/>
                </a:lnTo>
                <a:lnTo>
                  <a:pt x="0" y="0"/>
                </a:lnTo>
                <a:close/>
              </a:path>
            </a:pathLst>
          </a:custGeom>
          <a:blipFill>
            <a:blip r:embed="rId3"/>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9910" y="0"/>
            <a:ext cx="18228179" cy="10287000"/>
          </a:xfrm>
          <a:custGeom>
            <a:avLst/>
            <a:gdLst/>
            <a:ahLst/>
            <a:cxnLst/>
            <a:rect r="r" b="b" t="t" l="l"/>
            <a:pathLst>
              <a:path h="10287000" w="18228179">
                <a:moveTo>
                  <a:pt x="0" y="0"/>
                </a:moveTo>
                <a:lnTo>
                  <a:pt x="18228180" y="0"/>
                </a:lnTo>
                <a:lnTo>
                  <a:pt x="18228180" y="10287000"/>
                </a:lnTo>
                <a:lnTo>
                  <a:pt x="0" y="10287000"/>
                </a:lnTo>
                <a:lnTo>
                  <a:pt x="0" y="0"/>
                </a:lnTo>
                <a:close/>
              </a:path>
            </a:pathLst>
          </a:custGeom>
          <a:blipFill>
            <a:blip r:embed="rId3"/>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38177"/>
            <a:ext cx="18288000" cy="10273723"/>
          </a:xfrm>
          <a:custGeom>
            <a:avLst/>
            <a:gdLst/>
            <a:ahLst/>
            <a:cxnLst/>
            <a:rect r="r" b="b" t="t" l="l"/>
            <a:pathLst>
              <a:path h="10273723" w="18288000">
                <a:moveTo>
                  <a:pt x="0" y="0"/>
                </a:moveTo>
                <a:lnTo>
                  <a:pt x="18288000" y="0"/>
                </a:lnTo>
                <a:lnTo>
                  <a:pt x="18288000" y="10273723"/>
                </a:lnTo>
                <a:lnTo>
                  <a:pt x="0" y="10273723"/>
                </a:lnTo>
                <a:lnTo>
                  <a:pt x="0" y="0"/>
                </a:lnTo>
                <a:close/>
              </a:path>
            </a:pathLst>
          </a:custGeom>
          <a:blipFill>
            <a:blip r:embed="rId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79184" y="-162666"/>
            <a:ext cx="18620834" cy="10449666"/>
          </a:xfrm>
          <a:custGeom>
            <a:avLst/>
            <a:gdLst/>
            <a:ahLst/>
            <a:cxnLst/>
            <a:rect r="r" b="b" t="t" l="l"/>
            <a:pathLst>
              <a:path h="10449666" w="18620834">
                <a:moveTo>
                  <a:pt x="0" y="0"/>
                </a:moveTo>
                <a:lnTo>
                  <a:pt x="18620834" y="0"/>
                </a:lnTo>
                <a:lnTo>
                  <a:pt x="18620834" y="10449666"/>
                </a:lnTo>
                <a:lnTo>
                  <a:pt x="0" y="10449666"/>
                </a:lnTo>
                <a:lnTo>
                  <a:pt x="0" y="0"/>
                </a:lnTo>
                <a:close/>
              </a:path>
            </a:pathLst>
          </a:custGeom>
          <a:blipFill>
            <a:blip r:embed="rId3"/>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3609"/>
            <a:ext cx="18288000" cy="10279781"/>
          </a:xfrm>
          <a:custGeom>
            <a:avLst/>
            <a:gdLst/>
            <a:ahLst/>
            <a:cxnLst/>
            <a:rect r="r" b="b" t="t" l="l"/>
            <a:pathLst>
              <a:path h="10279781" w="18288000">
                <a:moveTo>
                  <a:pt x="0" y="0"/>
                </a:moveTo>
                <a:lnTo>
                  <a:pt x="18288000" y="0"/>
                </a:lnTo>
                <a:lnTo>
                  <a:pt x="18288000" y="10279782"/>
                </a:lnTo>
                <a:lnTo>
                  <a:pt x="0" y="10279782"/>
                </a:lnTo>
                <a:lnTo>
                  <a:pt x="0" y="0"/>
                </a:lnTo>
                <a:close/>
              </a:path>
            </a:pathLst>
          </a:custGeom>
          <a:blipFill>
            <a:blip r:embed="rId3"/>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163199"/>
            <a:ext cx="18504601" cy="10431993"/>
          </a:xfrm>
          <a:custGeom>
            <a:avLst/>
            <a:gdLst/>
            <a:ahLst/>
            <a:cxnLst/>
            <a:rect r="r" b="b" t="t" l="l"/>
            <a:pathLst>
              <a:path h="10431993" w="18504601">
                <a:moveTo>
                  <a:pt x="0" y="0"/>
                </a:moveTo>
                <a:lnTo>
                  <a:pt x="18504601" y="0"/>
                </a:lnTo>
                <a:lnTo>
                  <a:pt x="18504601" y="10431994"/>
                </a:lnTo>
                <a:lnTo>
                  <a:pt x="0" y="10431994"/>
                </a:lnTo>
                <a:lnTo>
                  <a:pt x="0" y="0"/>
                </a:lnTo>
                <a:close/>
              </a:path>
            </a:pathLst>
          </a:custGeom>
          <a:blipFill>
            <a:blip r:embed="rId3"/>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0" t="0" r="-6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621" y="600441"/>
            <a:ext cx="16580861" cy="9086117"/>
            <a:chOff x="0" y="0"/>
            <a:chExt cx="2568809" cy="1407677"/>
          </a:xfrm>
        </p:grpSpPr>
        <p:sp>
          <p:nvSpPr>
            <p:cNvPr name="Freeform 3" id="3"/>
            <p:cNvSpPr/>
            <p:nvPr/>
          </p:nvSpPr>
          <p:spPr>
            <a:xfrm flipH="false" flipV="false" rot="0">
              <a:off x="0" y="0"/>
              <a:ext cx="2568809" cy="1407677"/>
            </a:xfrm>
            <a:custGeom>
              <a:avLst/>
              <a:gdLst/>
              <a:ahLst/>
              <a:cxnLst/>
              <a:rect r="r" b="b" t="t" l="l"/>
              <a:pathLst>
                <a:path h="1407677" w="2568809">
                  <a:moveTo>
                    <a:pt x="0" y="0"/>
                  </a:moveTo>
                  <a:lnTo>
                    <a:pt x="2568809" y="0"/>
                  </a:lnTo>
                  <a:lnTo>
                    <a:pt x="2568809" y="1407677"/>
                  </a:lnTo>
                  <a:lnTo>
                    <a:pt x="0" y="1407677"/>
                  </a:lnTo>
                  <a:close/>
                </a:path>
              </a:pathLst>
            </a:custGeom>
            <a:blipFill>
              <a:blip r:embed="rId2"/>
              <a:stretch>
                <a:fillRect l="0" t="-100" r="0" b="-100"/>
              </a:stretch>
            </a:blipFill>
          </p:spPr>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621" y="600441"/>
            <a:ext cx="16580861" cy="9086117"/>
            <a:chOff x="0" y="0"/>
            <a:chExt cx="2568809" cy="1407677"/>
          </a:xfrm>
        </p:grpSpPr>
        <p:sp>
          <p:nvSpPr>
            <p:cNvPr name="Freeform 3" id="3"/>
            <p:cNvSpPr/>
            <p:nvPr/>
          </p:nvSpPr>
          <p:spPr>
            <a:xfrm flipH="false" flipV="false" rot="0">
              <a:off x="0" y="0"/>
              <a:ext cx="2568809" cy="1407677"/>
            </a:xfrm>
            <a:custGeom>
              <a:avLst/>
              <a:gdLst/>
              <a:ahLst/>
              <a:cxnLst/>
              <a:rect r="r" b="b" t="t" l="l"/>
              <a:pathLst>
                <a:path h="1407677" w="2568809">
                  <a:moveTo>
                    <a:pt x="0" y="0"/>
                  </a:moveTo>
                  <a:lnTo>
                    <a:pt x="2568809" y="0"/>
                  </a:lnTo>
                  <a:lnTo>
                    <a:pt x="2568809" y="1407677"/>
                  </a:lnTo>
                  <a:lnTo>
                    <a:pt x="0" y="1407677"/>
                  </a:lnTo>
                  <a:close/>
                </a:path>
              </a:pathLst>
            </a:custGeom>
            <a:blipFill>
              <a:blip r:embed="rId2"/>
              <a:stretch>
                <a:fillRect l="0" t="-598" r="0" b="-598"/>
              </a:stretch>
            </a:blipFill>
          </p:spPr>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621" y="600441"/>
            <a:ext cx="16580861" cy="9086117"/>
            <a:chOff x="0" y="0"/>
            <a:chExt cx="2568809" cy="1407677"/>
          </a:xfrm>
        </p:grpSpPr>
        <p:sp>
          <p:nvSpPr>
            <p:cNvPr name="Freeform 3" id="3"/>
            <p:cNvSpPr/>
            <p:nvPr/>
          </p:nvSpPr>
          <p:spPr>
            <a:xfrm flipH="false" flipV="false" rot="0">
              <a:off x="0" y="0"/>
              <a:ext cx="2568809" cy="1407677"/>
            </a:xfrm>
            <a:custGeom>
              <a:avLst/>
              <a:gdLst/>
              <a:ahLst/>
              <a:cxnLst/>
              <a:rect r="r" b="b" t="t" l="l"/>
              <a:pathLst>
                <a:path h="1407677" w="2568809">
                  <a:moveTo>
                    <a:pt x="0" y="0"/>
                  </a:moveTo>
                  <a:lnTo>
                    <a:pt x="2568809" y="0"/>
                  </a:lnTo>
                  <a:lnTo>
                    <a:pt x="2568809" y="1407677"/>
                  </a:lnTo>
                  <a:lnTo>
                    <a:pt x="0" y="1407677"/>
                  </a:lnTo>
                  <a:close/>
                </a:path>
              </a:pathLst>
            </a:custGeom>
            <a:blipFill>
              <a:blip r:embed="rId2"/>
              <a:stretch>
                <a:fillRect l="0" t="-1593" r="0" b="-1593"/>
              </a:stretch>
            </a:blipFill>
          </p:spPr>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621" y="600441"/>
            <a:ext cx="16580861" cy="9086117"/>
            <a:chOff x="0" y="0"/>
            <a:chExt cx="2568809" cy="1407677"/>
          </a:xfrm>
        </p:grpSpPr>
        <p:sp>
          <p:nvSpPr>
            <p:cNvPr name="Freeform 3" id="3"/>
            <p:cNvSpPr/>
            <p:nvPr/>
          </p:nvSpPr>
          <p:spPr>
            <a:xfrm flipH="false" flipV="false" rot="0">
              <a:off x="0" y="0"/>
              <a:ext cx="2568809" cy="1407677"/>
            </a:xfrm>
            <a:custGeom>
              <a:avLst/>
              <a:gdLst/>
              <a:ahLst/>
              <a:cxnLst/>
              <a:rect r="r" b="b" t="t" l="l"/>
              <a:pathLst>
                <a:path h="1407677" w="2568809">
                  <a:moveTo>
                    <a:pt x="0" y="0"/>
                  </a:moveTo>
                  <a:lnTo>
                    <a:pt x="2568809" y="0"/>
                  </a:lnTo>
                  <a:lnTo>
                    <a:pt x="2568809" y="1407677"/>
                  </a:lnTo>
                  <a:lnTo>
                    <a:pt x="0" y="1407677"/>
                  </a:lnTo>
                  <a:close/>
                </a:path>
              </a:pathLst>
            </a:custGeom>
            <a:blipFill>
              <a:blip r:embed="rId2"/>
              <a:stretch>
                <a:fillRect l="-65" t="0" r="-65" b="0"/>
              </a:stretch>
            </a:blipFill>
          </p:spPr>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621" y="600441"/>
            <a:ext cx="16580861" cy="9086117"/>
            <a:chOff x="0" y="0"/>
            <a:chExt cx="2568809" cy="1407677"/>
          </a:xfrm>
        </p:grpSpPr>
        <p:sp>
          <p:nvSpPr>
            <p:cNvPr name="Freeform 3" id="3"/>
            <p:cNvSpPr/>
            <p:nvPr/>
          </p:nvSpPr>
          <p:spPr>
            <a:xfrm flipH="false" flipV="false" rot="0">
              <a:off x="0" y="0"/>
              <a:ext cx="2568809" cy="1407677"/>
            </a:xfrm>
            <a:custGeom>
              <a:avLst/>
              <a:gdLst/>
              <a:ahLst/>
              <a:cxnLst/>
              <a:rect r="r" b="b" t="t" l="l"/>
              <a:pathLst>
                <a:path h="1407677" w="2568809">
                  <a:moveTo>
                    <a:pt x="0" y="0"/>
                  </a:moveTo>
                  <a:lnTo>
                    <a:pt x="2568809" y="0"/>
                  </a:lnTo>
                  <a:lnTo>
                    <a:pt x="2568809" y="1407677"/>
                  </a:lnTo>
                  <a:lnTo>
                    <a:pt x="0" y="1407677"/>
                  </a:lnTo>
                  <a:close/>
                </a:path>
              </a:pathLst>
            </a:custGeom>
            <a:blipFill>
              <a:blip r:embed="rId2"/>
              <a:stretch>
                <a:fillRect l="-65" t="0" r="-65" b="0"/>
              </a:stretch>
            </a:blipFill>
          </p:spPr>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66449" y="6316736"/>
            <a:ext cx="6098672" cy="232991"/>
            <a:chOff x="0" y="0"/>
            <a:chExt cx="1606235" cy="61364"/>
          </a:xfrm>
        </p:grpSpPr>
        <p:sp>
          <p:nvSpPr>
            <p:cNvPr name="Freeform 4" id="4"/>
            <p:cNvSpPr/>
            <p:nvPr/>
          </p:nvSpPr>
          <p:spPr>
            <a:xfrm flipH="false" flipV="false" rot="0">
              <a:off x="0" y="0"/>
              <a:ext cx="1606235" cy="61364"/>
            </a:xfrm>
            <a:custGeom>
              <a:avLst/>
              <a:gdLst/>
              <a:ahLst/>
              <a:cxnLst/>
              <a:rect r="r" b="b" t="t" l="l"/>
              <a:pathLst>
                <a:path h="61364" w="1606235">
                  <a:moveTo>
                    <a:pt x="0" y="0"/>
                  </a:moveTo>
                  <a:lnTo>
                    <a:pt x="1606235" y="0"/>
                  </a:lnTo>
                  <a:lnTo>
                    <a:pt x="1606235" y="61364"/>
                  </a:lnTo>
                  <a:lnTo>
                    <a:pt x="0" y="61364"/>
                  </a:lnTo>
                  <a:close/>
                </a:path>
              </a:pathLst>
            </a:custGeom>
            <a:solidFill>
              <a:srgbClr val="004AAD"/>
            </a:solidFill>
          </p:spPr>
        </p:sp>
        <p:sp>
          <p:nvSpPr>
            <p:cNvPr name="TextBox 5" id="5"/>
            <p:cNvSpPr txBox="true"/>
            <p:nvPr/>
          </p:nvSpPr>
          <p:spPr>
            <a:xfrm>
              <a:off x="0" y="-47625"/>
              <a:ext cx="1606235" cy="108989"/>
            </a:xfrm>
            <a:prstGeom prst="rect">
              <a:avLst/>
            </a:prstGeom>
          </p:spPr>
          <p:txBody>
            <a:bodyPr anchor="ctr" rtlCol="false" tIns="50800" lIns="50800" bIns="50800" rIns="50800"/>
            <a:lstStyle/>
            <a:p>
              <a:pPr algn="ctr">
                <a:lnSpc>
                  <a:spcPts val="2659"/>
                </a:lnSpc>
              </a:pPr>
            </a:p>
          </p:txBody>
        </p:sp>
      </p:grpSp>
      <p:sp>
        <p:nvSpPr>
          <p:cNvPr name="Freeform 6" id="6">
            <a:hlinkClick r:id="rId5" tooltip="https://logi-insight-360-4cpc.vercel.app"/>
          </p:cNvPr>
          <p:cNvSpPr/>
          <p:nvPr/>
        </p:nvSpPr>
        <p:spPr>
          <a:xfrm flipH="false" flipV="false" rot="0">
            <a:off x="11167877" y="2345320"/>
            <a:ext cx="5596359" cy="5596359"/>
          </a:xfrm>
          <a:custGeom>
            <a:avLst/>
            <a:gdLst/>
            <a:ahLst/>
            <a:cxnLst/>
            <a:rect r="r" b="b" t="t" l="l"/>
            <a:pathLst>
              <a:path h="5596359" w="5596359">
                <a:moveTo>
                  <a:pt x="0" y="0"/>
                </a:moveTo>
                <a:lnTo>
                  <a:pt x="5596360" y="0"/>
                </a:lnTo>
                <a:lnTo>
                  <a:pt x="5596360" y="5596360"/>
                </a:lnTo>
                <a:lnTo>
                  <a:pt x="0" y="5596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312373" y="3983145"/>
            <a:ext cx="6923643" cy="1855890"/>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LOGI-INSIGHT-360 WEBSITE</a:t>
            </a:r>
          </a:p>
        </p:txBody>
      </p:sp>
      <p:sp>
        <p:nvSpPr>
          <p:cNvPr name="AutoShape 8" id="8"/>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9" id="9"/>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6"/>
            <a:stretch>
              <a:fillRect l="0" t="0" r="0" b="0"/>
            </a:stretch>
          </a:blipFill>
        </p:spPr>
      </p:sp>
      <p:sp>
        <p:nvSpPr>
          <p:cNvPr name="Freeform 10" id="10"/>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7"/>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2902" t="0" r="-11315" b="0"/>
              </a:stretch>
            </a:blipFill>
          </p:spPr>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32718"/>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0" t="-1113" r="0" b="-69412"/>
              </a:stretch>
            </a:blipFill>
          </p:spPr>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8642" t="0" r="-8642" b="0"/>
              </a:stretch>
            </a:blipFill>
          </p:spPr>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6808" t="0" r="-6808" b="0"/>
              </a:stretch>
            </a:blipFill>
          </p:spPr>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7200" t="0" r="-7200" b="0"/>
              </a:stretch>
            </a:blipFill>
          </p:spPr>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172183"/>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0" t="-16674" r="0" b="-6829"/>
              </a:stretch>
            </a:blipFill>
          </p:spPr>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0" t="-16362" r="0" b="-16362"/>
              </a:stretch>
            </a:blipFill>
          </p:spPr>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3222" y="600441"/>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0" t="-30099" r="0" b="-7333"/>
              </a:stretch>
            </a:blipFill>
          </p:spPr>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3222" y="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0" t="-29095" r="0" b="-14943"/>
              </a:stretch>
            </a:blipFill>
          </p:spPr>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1422" t="0" r="-1422" b="0"/>
              </a:stretch>
            </a:blipFill>
          </p:spPr>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0" t="-6972" r="0" b="-6972"/>
              </a:stretch>
            </a:blipFill>
          </p:spPr>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1274" y="0"/>
            <a:ext cx="18565592" cy="9952690"/>
            <a:chOff x="0" y="0"/>
            <a:chExt cx="2876296" cy="1541932"/>
          </a:xfrm>
        </p:grpSpPr>
        <p:sp>
          <p:nvSpPr>
            <p:cNvPr name="Freeform 3" id="3"/>
            <p:cNvSpPr/>
            <p:nvPr/>
          </p:nvSpPr>
          <p:spPr>
            <a:xfrm flipH="false" flipV="false" rot="0">
              <a:off x="0" y="0"/>
              <a:ext cx="2876296" cy="1541932"/>
            </a:xfrm>
            <a:custGeom>
              <a:avLst/>
              <a:gdLst/>
              <a:ahLst/>
              <a:cxnLst/>
              <a:rect r="r" b="b" t="t" l="l"/>
              <a:pathLst>
                <a:path h="1541932" w="2876296">
                  <a:moveTo>
                    <a:pt x="0" y="0"/>
                  </a:moveTo>
                  <a:lnTo>
                    <a:pt x="2876296" y="0"/>
                  </a:lnTo>
                  <a:lnTo>
                    <a:pt x="2876296" y="1541932"/>
                  </a:lnTo>
                  <a:lnTo>
                    <a:pt x="0" y="1541932"/>
                  </a:lnTo>
                  <a:close/>
                </a:path>
              </a:pathLst>
            </a:custGeom>
            <a:blipFill>
              <a:blip r:embed="rId2"/>
              <a:stretch>
                <a:fillRect l="0" t="-34121" r="0" b="-31875"/>
              </a:stretch>
            </a:blipFill>
          </p:spPr>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176" y="376810"/>
            <a:ext cx="17335618" cy="9086117"/>
            <a:chOff x="0" y="0"/>
            <a:chExt cx="2685741" cy="1407677"/>
          </a:xfrm>
        </p:grpSpPr>
        <p:sp>
          <p:nvSpPr>
            <p:cNvPr name="Freeform 3" id="3"/>
            <p:cNvSpPr/>
            <p:nvPr/>
          </p:nvSpPr>
          <p:spPr>
            <a:xfrm flipH="false" flipV="false" rot="0">
              <a:off x="0" y="0"/>
              <a:ext cx="2685741" cy="1407677"/>
            </a:xfrm>
            <a:custGeom>
              <a:avLst/>
              <a:gdLst/>
              <a:ahLst/>
              <a:cxnLst/>
              <a:rect r="r" b="b" t="t" l="l"/>
              <a:pathLst>
                <a:path h="1407677" w="2685741">
                  <a:moveTo>
                    <a:pt x="0" y="0"/>
                  </a:moveTo>
                  <a:lnTo>
                    <a:pt x="2685741" y="0"/>
                  </a:lnTo>
                  <a:lnTo>
                    <a:pt x="2685741" y="1407677"/>
                  </a:lnTo>
                  <a:lnTo>
                    <a:pt x="0" y="1407677"/>
                  </a:lnTo>
                  <a:close/>
                </a:path>
              </a:pathLst>
            </a:custGeom>
            <a:blipFill>
              <a:blip r:embed="rId2"/>
              <a:stretch>
                <a:fillRect l="-5550" t="0" r="-5550" b="0"/>
              </a:stretch>
            </a:blipFill>
          </p:spPr>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66449" y="6316736"/>
            <a:ext cx="6098672" cy="232991"/>
            <a:chOff x="0" y="0"/>
            <a:chExt cx="1606235" cy="61364"/>
          </a:xfrm>
        </p:grpSpPr>
        <p:sp>
          <p:nvSpPr>
            <p:cNvPr name="Freeform 4" id="4"/>
            <p:cNvSpPr/>
            <p:nvPr/>
          </p:nvSpPr>
          <p:spPr>
            <a:xfrm flipH="false" flipV="false" rot="0">
              <a:off x="0" y="0"/>
              <a:ext cx="1606235" cy="61364"/>
            </a:xfrm>
            <a:custGeom>
              <a:avLst/>
              <a:gdLst/>
              <a:ahLst/>
              <a:cxnLst/>
              <a:rect r="r" b="b" t="t" l="l"/>
              <a:pathLst>
                <a:path h="61364" w="1606235">
                  <a:moveTo>
                    <a:pt x="0" y="0"/>
                  </a:moveTo>
                  <a:lnTo>
                    <a:pt x="1606235" y="0"/>
                  </a:lnTo>
                  <a:lnTo>
                    <a:pt x="1606235" y="61364"/>
                  </a:lnTo>
                  <a:lnTo>
                    <a:pt x="0" y="61364"/>
                  </a:lnTo>
                  <a:close/>
                </a:path>
              </a:pathLst>
            </a:custGeom>
            <a:solidFill>
              <a:srgbClr val="004AAD"/>
            </a:solidFill>
          </p:spPr>
        </p:sp>
        <p:sp>
          <p:nvSpPr>
            <p:cNvPr name="TextBox 5" id="5"/>
            <p:cNvSpPr txBox="true"/>
            <p:nvPr/>
          </p:nvSpPr>
          <p:spPr>
            <a:xfrm>
              <a:off x="0" y="-47625"/>
              <a:ext cx="1606235" cy="10898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2373" y="3983145"/>
            <a:ext cx="8158467" cy="1855890"/>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SMART WORKFLOW &amp; AI</a:t>
            </a:r>
          </a:p>
        </p:txBody>
      </p:sp>
      <p:sp>
        <p:nvSpPr>
          <p:cNvPr name="AutoShape 7" id="7"/>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8" id="8"/>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9" id="9"/>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a:off x="2486467" y="2827615"/>
            <a:ext cx="3344656" cy="1674060"/>
          </a:xfrm>
          <a:custGeom>
            <a:avLst/>
            <a:gdLst/>
            <a:ahLst/>
            <a:cxnLst/>
            <a:rect r="r" b="b" t="t" l="l"/>
            <a:pathLst>
              <a:path h="1674060" w="3344656">
                <a:moveTo>
                  <a:pt x="0" y="606582"/>
                </a:moveTo>
                <a:lnTo>
                  <a:pt x="0" y="228600"/>
                </a:lnTo>
                <a:cubicBezTo>
                  <a:pt x="0" y="102347"/>
                  <a:pt x="102348" y="0"/>
                  <a:pt x="228600" y="0"/>
                </a:cubicBezTo>
                <a:lnTo>
                  <a:pt x="1704357" y="0"/>
                </a:lnTo>
                <a:cubicBezTo>
                  <a:pt x="1764985" y="0"/>
                  <a:pt x="1823130" y="24084"/>
                  <a:pt x="1866001" y="66955"/>
                </a:cubicBezTo>
                <a:cubicBezTo>
                  <a:pt x="1908872" y="109826"/>
                  <a:pt x="1932957" y="167971"/>
                  <a:pt x="1932957" y="228600"/>
                </a:cubicBezTo>
                <a:lnTo>
                  <a:pt x="1932957" y="497143"/>
                </a:lnTo>
                <a:cubicBezTo>
                  <a:pt x="1932957" y="623395"/>
                  <a:pt x="2035304" y="725743"/>
                  <a:pt x="2161557" y="725743"/>
                </a:cubicBezTo>
                <a:lnTo>
                  <a:pt x="3116056" y="725743"/>
                </a:lnTo>
                <a:cubicBezTo>
                  <a:pt x="3176685" y="725743"/>
                  <a:pt x="3234830" y="749827"/>
                  <a:pt x="3277701" y="792698"/>
                </a:cubicBezTo>
                <a:cubicBezTo>
                  <a:pt x="3320572" y="835569"/>
                  <a:pt x="3344656" y="893714"/>
                  <a:pt x="3344656" y="954343"/>
                </a:cubicBezTo>
                <a:lnTo>
                  <a:pt x="3344656" y="1674060"/>
                </a:lnTo>
              </a:path>
            </a:pathLst>
          </a:custGeom>
          <a:ln cap="rnd" w="28575">
            <a:solidFill>
              <a:srgbClr val="C7D2D9"/>
            </a:solidFill>
            <a:prstDash val="lgDash"/>
            <a:headEnd type="none" len="sm" w="sm"/>
            <a:tailEnd type="none" len="sm" w="sm"/>
          </a:ln>
        </p:spPr>
      </p:sp>
      <p:sp>
        <p:nvSpPr>
          <p:cNvPr name="Freeform 3" id="3"/>
          <p:cNvSpPr/>
          <p:nvPr/>
        </p:nvSpPr>
        <p:spPr>
          <a:xfrm>
            <a:off x="5831123" y="3811990"/>
            <a:ext cx="3344656" cy="1362311"/>
          </a:xfrm>
          <a:custGeom>
            <a:avLst/>
            <a:gdLst/>
            <a:ahLst/>
            <a:cxnLst/>
            <a:rect r="r" b="b" t="t" l="l"/>
            <a:pathLst>
              <a:path h="1362311" w="3344656">
                <a:moveTo>
                  <a:pt x="3344656" y="1362311"/>
                </a:moveTo>
                <a:lnTo>
                  <a:pt x="3344656" y="228600"/>
                </a:lnTo>
                <a:cubicBezTo>
                  <a:pt x="3344656" y="102347"/>
                  <a:pt x="3242308" y="0"/>
                  <a:pt x="3116056" y="0"/>
                </a:cubicBezTo>
                <a:lnTo>
                  <a:pt x="228600" y="0"/>
                </a:lnTo>
                <a:cubicBezTo>
                  <a:pt x="167972" y="0"/>
                  <a:pt x="109826" y="24084"/>
                  <a:pt x="66955" y="66955"/>
                </a:cubicBezTo>
                <a:cubicBezTo>
                  <a:pt x="24085" y="109826"/>
                  <a:pt x="0" y="167971"/>
                  <a:pt x="0" y="228600"/>
                </a:cubicBezTo>
                <a:lnTo>
                  <a:pt x="0" y="689685"/>
                </a:lnTo>
              </a:path>
            </a:pathLst>
          </a:custGeom>
          <a:ln cap="rnd" w="28575">
            <a:solidFill>
              <a:srgbClr val="C7D2D9"/>
            </a:solidFill>
            <a:prstDash val="lgDash"/>
            <a:headEnd type="none" len="sm" w="sm"/>
            <a:tailEnd type="none" len="sm" w="sm"/>
          </a:ln>
        </p:spPr>
      </p:sp>
      <p:sp>
        <p:nvSpPr>
          <p:cNvPr name="Freeform 4" id="4"/>
          <p:cNvSpPr/>
          <p:nvPr/>
        </p:nvSpPr>
        <p:spPr>
          <a:xfrm>
            <a:off x="9175779" y="3811990"/>
            <a:ext cx="3344656" cy="1362311"/>
          </a:xfrm>
          <a:custGeom>
            <a:avLst/>
            <a:gdLst/>
            <a:ahLst/>
            <a:cxnLst/>
            <a:rect r="r" b="b" t="t" l="l"/>
            <a:pathLst>
              <a:path h="1362311" w="3344656">
                <a:moveTo>
                  <a:pt x="0" y="1362311"/>
                </a:moveTo>
                <a:lnTo>
                  <a:pt x="0" y="228600"/>
                </a:lnTo>
                <a:cubicBezTo>
                  <a:pt x="0" y="167971"/>
                  <a:pt x="24085" y="109826"/>
                  <a:pt x="66956" y="66955"/>
                </a:cubicBezTo>
                <a:cubicBezTo>
                  <a:pt x="109826" y="24084"/>
                  <a:pt x="167972" y="0"/>
                  <a:pt x="228600" y="0"/>
                </a:cubicBezTo>
                <a:lnTo>
                  <a:pt x="3116057" y="0"/>
                </a:lnTo>
                <a:cubicBezTo>
                  <a:pt x="3242309" y="0"/>
                  <a:pt x="3344657" y="102347"/>
                  <a:pt x="3344657" y="228600"/>
                </a:cubicBezTo>
                <a:lnTo>
                  <a:pt x="3344657" y="689685"/>
                </a:lnTo>
              </a:path>
            </a:pathLst>
          </a:custGeom>
          <a:ln cap="rnd" w="28575">
            <a:solidFill>
              <a:srgbClr val="C7D2D9"/>
            </a:solidFill>
            <a:prstDash val="lgDash"/>
            <a:headEnd type="none" len="sm" w="sm"/>
            <a:tailEnd type="none" len="sm" w="sm"/>
          </a:ln>
        </p:spPr>
      </p:sp>
      <p:sp>
        <p:nvSpPr>
          <p:cNvPr name="Freeform 5" id="5"/>
          <p:cNvSpPr/>
          <p:nvPr/>
        </p:nvSpPr>
        <p:spPr>
          <a:xfrm>
            <a:off x="12520436" y="2827615"/>
            <a:ext cx="3344656" cy="1674060"/>
          </a:xfrm>
          <a:custGeom>
            <a:avLst/>
            <a:gdLst/>
            <a:ahLst/>
            <a:cxnLst/>
            <a:rect r="r" b="b" t="t" l="l"/>
            <a:pathLst>
              <a:path h="1674060" w="3344656">
                <a:moveTo>
                  <a:pt x="3344656" y="606582"/>
                </a:moveTo>
                <a:lnTo>
                  <a:pt x="3344656" y="228600"/>
                </a:lnTo>
                <a:cubicBezTo>
                  <a:pt x="3344656" y="102347"/>
                  <a:pt x="3242309" y="0"/>
                  <a:pt x="3116056" y="0"/>
                </a:cubicBezTo>
                <a:lnTo>
                  <a:pt x="1562404" y="0"/>
                </a:lnTo>
                <a:cubicBezTo>
                  <a:pt x="1436151" y="0"/>
                  <a:pt x="1333804" y="102347"/>
                  <a:pt x="1333804" y="228600"/>
                </a:cubicBezTo>
                <a:lnTo>
                  <a:pt x="1333804" y="497143"/>
                </a:lnTo>
                <a:cubicBezTo>
                  <a:pt x="1333804" y="623395"/>
                  <a:pt x="1231456" y="725743"/>
                  <a:pt x="1105204" y="725743"/>
                </a:cubicBezTo>
                <a:lnTo>
                  <a:pt x="228600" y="725743"/>
                </a:lnTo>
                <a:cubicBezTo>
                  <a:pt x="167971" y="725743"/>
                  <a:pt x="109826" y="749827"/>
                  <a:pt x="66955" y="792698"/>
                </a:cubicBezTo>
                <a:cubicBezTo>
                  <a:pt x="24084" y="835569"/>
                  <a:pt x="0" y="893714"/>
                  <a:pt x="0" y="954343"/>
                </a:cubicBezTo>
                <a:lnTo>
                  <a:pt x="0" y="1674060"/>
                </a:lnTo>
              </a:path>
            </a:pathLst>
          </a:custGeom>
          <a:ln cap="rnd" w="28575">
            <a:solidFill>
              <a:srgbClr val="C7D2D9"/>
            </a:solidFill>
            <a:prstDash val="lgDash"/>
            <a:headEnd type="none" len="sm" w="sm"/>
            <a:tailEnd type="none" len="sm" w="sm"/>
          </a:ln>
        </p:spPr>
      </p:sp>
      <p:sp>
        <p:nvSpPr>
          <p:cNvPr name="Freeform 6" id="6"/>
          <p:cNvSpPr/>
          <p:nvPr/>
        </p:nvSpPr>
        <p:spPr>
          <a:xfrm flipH="false" flipV="false" rot="5400000">
            <a:off x="2153670" y="6736888"/>
            <a:ext cx="665593" cy="2698215"/>
          </a:xfrm>
          <a:custGeom>
            <a:avLst/>
            <a:gdLst/>
            <a:ahLst/>
            <a:cxnLst/>
            <a:rect r="r" b="b" t="t" l="l"/>
            <a:pathLst>
              <a:path h="2698215" w="665593">
                <a:moveTo>
                  <a:pt x="0" y="0"/>
                </a:moveTo>
                <a:lnTo>
                  <a:pt x="665594" y="0"/>
                </a:lnTo>
                <a:lnTo>
                  <a:pt x="665594" y="2698215"/>
                </a:lnTo>
                <a:lnTo>
                  <a:pt x="0" y="2698215"/>
                </a:lnTo>
                <a:lnTo>
                  <a:pt x="0" y="0"/>
                </a:lnTo>
                <a:close/>
              </a:path>
            </a:pathLst>
          </a:custGeom>
          <a:blipFill>
            <a:blip r:embed="rId2">
              <a:alphaModFix amt="60000"/>
            </a:blip>
            <a:stretch>
              <a:fillRect l="-77632" t="0" r="0" b="0"/>
            </a:stretch>
          </a:blipFill>
        </p:spPr>
      </p:sp>
      <p:sp>
        <p:nvSpPr>
          <p:cNvPr name="Freeform 7" id="7"/>
          <p:cNvSpPr/>
          <p:nvPr/>
        </p:nvSpPr>
        <p:spPr>
          <a:xfrm flipH="false" flipV="false" rot="5400000">
            <a:off x="15532296" y="6736888"/>
            <a:ext cx="665593" cy="2698215"/>
          </a:xfrm>
          <a:custGeom>
            <a:avLst/>
            <a:gdLst/>
            <a:ahLst/>
            <a:cxnLst/>
            <a:rect r="r" b="b" t="t" l="l"/>
            <a:pathLst>
              <a:path h="2698215" w="665593">
                <a:moveTo>
                  <a:pt x="0" y="0"/>
                </a:moveTo>
                <a:lnTo>
                  <a:pt x="665593" y="0"/>
                </a:lnTo>
                <a:lnTo>
                  <a:pt x="665593" y="2698215"/>
                </a:lnTo>
                <a:lnTo>
                  <a:pt x="0" y="2698215"/>
                </a:lnTo>
                <a:lnTo>
                  <a:pt x="0" y="0"/>
                </a:lnTo>
                <a:close/>
              </a:path>
            </a:pathLst>
          </a:custGeom>
          <a:blipFill>
            <a:blip r:embed="rId2">
              <a:alphaModFix amt="60000"/>
            </a:blip>
            <a:stretch>
              <a:fillRect l="-77632" t="0" r="0" b="0"/>
            </a:stretch>
          </a:blipFill>
        </p:spPr>
      </p:sp>
      <p:sp>
        <p:nvSpPr>
          <p:cNvPr name="Freeform 8" id="8"/>
          <p:cNvSpPr/>
          <p:nvPr/>
        </p:nvSpPr>
        <p:spPr>
          <a:xfrm flipH="false" flipV="false" rot="5400000">
            <a:off x="5498327" y="7242802"/>
            <a:ext cx="665593" cy="2698215"/>
          </a:xfrm>
          <a:custGeom>
            <a:avLst/>
            <a:gdLst/>
            <a:ahLst/>
            <a:cxnLst/>
            <a:rect r="r" b="b" t="t" l="l"/>
            <a:pathLst>
              <a:path h="2698215" w="665593">
                <a:moveTo>
                  <a:pt x="0" y="0"/>
                </a:moveTo>
                <a:lnTo>
                  <a:pt x="665593" y="0"/>
                </a:lnTo>
                <a:lnTo>
                  <a:pt x="665593" y="2698215"/>
                </a:lnTo>
                <a:lnTo>
                  <a:pt x="0" y="2698215"/>
                </a:lnTo>
                <a:lnTo>
                  <a:pt x="0" y="0"/>
                </a:lnTo>
                <a:close/>
              </a:path>
            </a:pathLst>
          </a:custGeom>
          <a:blipFill>
            <a:blip r:embed="rId2">
              <a:alphaModFix amt="60000"/>
            </a:blip>
            <a:stretch>
              <a:fillRect l="-77632" t="0" r="0" b="0"/>
            </a:stretch>
          </a:blipFill>
        </p:spPr>
      </p:sp>
      <p:sp>
        <p:nvSpPr>
          <p:cNvPr name="Freeform 9" id="9"/>
          <p:cNvSpPr/>
          <p:nvPr/>
        </p:nvSpPr>
        <p:spPr>
          <a:xfrm flipH="false" flipV="false" rot="5400000">
            <a:off x="12187639" y="7242802"/>
            <a:ext cx="665593" cy="2698215"/>
          </a:xfrm>
          <a:custGeom>
            <a:avLst/>
            <a:gdLst/>
            <a:ahLst/>
            <a:cxnLst/>
            <a:rect r="r" b="b" t="t" l="l"/>
            <a:pathLst>
              <a:path h="2698215" w="665593">
                <a:moveTo>
                  <a:pt x="0" y="0"/>
                </a:moveTo>
                <a:lnTo>
                  <a:pt x="665594" y="0"/>
                </a:lnTo>
                <a:lnTo>
                  <a:pt x="665594" y="2698215"/>
                </a:lnTo>
                <a:lnTo>
                  <a:pt x="0" y="2698215"/>
                </a:lnTo>
                <a:lnTo>
                  <a:pt x="0" y="0"/>
                </a:lnTo>
                <a:close/>
              </a:path>
            </a:pathLst>
          </a:custGeom>
          <a:blipFill>
            <a:blip r:embed="rId2">
              <a:alphaModFix amt="60000"/>
            </a:blip>
            <a:stretch>
              <a:fillRect l="-77632" t="0" r="0" b="0"/>
            </a:stretch>
          </a:blipFill>
        </p:spPr>
      </p:sp>
      <p:grpSp>
        <p:nvGrpSpPr>
          <p:cNvPr name="Group 10" id="10"/>
          <p:cNvGrpSpPr/>
          <p:nvPr/>
        </p:nvGrpSpPr>
        <p:grpSpPr>
          <a:xfrm rot="0">
            <a:off x="1137359" y="4081998"/>
            <a:ext cx="2698215" cy="3861701"/>
            <a:chOff x="0" y="0"/>
            <a:chExt cx="698680" cy="999955"/>
          </a:xfrm>
        </p:grpSpPr>
        <p:sp>
          <p:nvSpPr>
            <p:cNvPr name="Freeform 11" id="11"/>
            <p:cNvSpPr/>
            <p:nvPr/>
          </p:nvSpPr>
          <p:spPr>
            <a:xfrm flipH="false" flipV="false" rot="0">
              <a:off x="0" y="0"/>
              <a:ext cx="698680" cy="999955"/>
            </a:xfrm>
            <a:custGeom>
              <a:avLst/>
              <a:gdLst/>
              <a:ahLst/>
              <a:cxnLst/>
              <a:rect r="r" b="b" t="t" l="l"/>
              <a:pathLst>
                <a:path h="999955" w="698680">
                  <a:moveTo>
                    <a:pt x="65993" y="0"/>
                  </a:moveTo>
                  <a:lnTo>
                    <a:pt x="632687" y="0"/>
                  </a:lnTo>
                  <a:cubicBezTo>
                    <a:pt x="650190" y="0"/>
                    <a:pt x="666975" y="6953"/>
                    <a:pt x="679351" y="19329"/>
                  </a:cubicBezTo>
                  <a:cubicBezTo>
                    <a:pt x="691727" y="31705"/>
                    <a:pt x="698680" y="48491"/>
                    <a:pt x="698680" y="65993"/>
                  </a:cubicBezTo>
                  <a:lnTo>
                    <a:pt x="698680" y="933962"/>
                  </a:lnTo>
                  <a:cubicBezTo>
                    <a:pt x="698680" y="951464"/>
                    <a:pt x="691727" y="968250"/>
                    <a:pt x="679351" y="980626"/>
                  </a:cubicBezTo>
                  <a:cubicBezTo>
                    <a:pt x="666975" y="993002"/>
                    <a:pt x="650190" y="999955"/>
                    <a:pt x="632687" y="999955"/>
                  </a:cubicBezTo>
                  <a:lnTo>
                    <a:pt x="65993" y="999955"/>
                  </a:lnTo>
                  <a:cubicBezTo>
                    <a:pt x="48491" y="999955"/>
                    <a:pt x="31705" y="993002"/>
                    <a:pt x="19329" y="980626"/>
                  </a:cubicBezTo>
                  <a:cubicBezTo>
                    <a:pt x="6953" y="968250"/>
                    <a:pt x="0" y="951464"/>
                    <a:pt x="0" y="933962"/>
                  </a:cubicBezTo>
                  <a:lnTo>
                    <a:pt x="0" y="65993"/>
                  </a:lnTo>
                  <a:cubicBezTo>
                    <a:pt x="0" y="48491"/>
                    <a:pt x="6953" y="31705"/>
                    <a:pt x="19329" y="19329"/>
                  </a:cubicBezTo>
                  <a:cubicBezTo>
                    <a:pt x="31705" y="6953"/>
                    <a:pt x="48491" y="0"/>
                    <a:pt x="65993" y="0"/>
                  </a:cubicBezTo>
                  <a:close/>
                </a:path>
              </a:pathLst>
            </a:custGeom>
            <a:solidFill>
              <a:srgbClr val="FFFFFF"/>
            </a:solidFill>
          </p:spPr>
        </p:sp>
        <p:sp>
          <p:nvSpPr>
            <p:cNvPr name="TextBox 12" id="12"/>
            <p:cNvSpPr txBox="true"/>
            <p:nvPr/>
          </p:nvSpPr>
          <p:spPr>
            <a:xfrm>
              <a:off x="0" y="-47625"/>
              <a:ext cx="698680" cy="104758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16059" y="3132568"/>
            <a:ext cx="2940815" cy="1879860"/>
          </a:xfrm>
          <a:custGeom>
            <a:avLst/>
            <a:gdLst/>
            <a:ahLst/>
            <a:cxnLst/>
            <a:rect r="r" b="b" t="t" l="l"/>
            <a:pathLst>
              <a:path h="1879860" w="2940815">
                <a:moveTo>
                  <a:pt x="0" y="0"/>
                </a:moveTo>
                <a:lnTo>
                  <a:pt x="2940816" y="0"/>
                </a:lnTo>
                <a:lnTo>
                  <a:pt x="2940816" y="1879860"/>
                </a:lnTo>
                <a:lnTo>
                  <a:pt x="0" y="1879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4482016" y="5053480"/>
            <a:ext cx="2698215" cy="3861701"/>
            <a:chOff x="0" y="0"/>
            <a:chExt cx="698680" cy="999955"/>
          </a:xfrm>
        </p:grpSpPr>
        <p:sp>
          <p:nvSpPr>
            <p:cNvPr name="Freeform 15" id="15"/>
            <p:cNvSpPr/>
            <p:nvPr/>
          </p:nvSpPr>
          <p:spPr>
            <a:xfrm flipH="false" flipV="false" rot="0">
              <a:off x="0" y="0"/>
              <a:ext cx="698680" cy="999955"/>
            </a:xfrm>
            <a:custGeom>
              <a:avLst/>
              <a:gdLst/>
              <a:ahLst/>
              <a:cxnLst/>
              <a:rect r="r" b="b" t="t" l="l"/>
              <a:pathLst>
                <a:path h="999955" w="698680">
                  <a:moveTo>
                    <a:pt x="65993" y="0"/>
                  </a:moveTo>
                  <a:lnTo>
                    <a:pt x="632687" y="0"/>
                  </a:lnTo>
                  <a:cubicBezTo>
                    <a:pt x="650190" y="0"/>
                    <a:pt x="666975" y="6953"/>
                    <a:pt x="679351" y="19329"/>
                  </a:cubicBezTo>
                  <a:cubicBezTo>
                    <a:pt x="691727" y="31705"/>
                    <a:pt x="698680" y="48491"/>
                    <a:pt x="698680" y="65993"/>
                  </a:cubicBezTo>
                  <a:lnTo>
                    <a:pt x="698680" y="933962"/>
                  </a:lnTo>
                  <a:cubicBezTo>
                    <a:pt x="698680" y="951464"/>
                    <a:pt x="691727" y="968250"/>
                    <a:pt x="679351" y="980626"/>
                  </a:cubicBezTo>
                  <a:cubicBezTo>
                    <a:pt x="666975" y="993002"/>
                    <a:pt x="650190" y="999955"/>
                    <a:pt x="632687" y="999955"/>
                  </a:cubicBezTo>
                  <a:lnTo>
                    <a:pt x="65993" y="999955"/>
                  </a:lnTo>
                  <a:cubicBezTo>
                    <a:pt x="48491" y="999955"/>
                    <a:pt x="31705" y="993002"/>
                    <a:pt x="19329" y="980626"/>
                  </a:cubicBezTo>
                  <a:cubicBezTo>
                    <a:pt x="6953" y="968250"/>
                    <a:pt x="0" y="951464"/>
                    <a:pt x="0" y="933962"/>
                  </a:cubicBezTo>
                  <a:lnTo>
                    <a:pt x="0" y="65993"/>
                  </a:lnTo>
                  <a:cubicBezTo>
                    <a:pt x="0" y="48491"/>
                    <a:pt x="6953" y="31705"/>
                    <a:pt x="19329" y="19329"/>
                  </a:cubicBezTo>
                  <a:cubicBezTo>
                    <a:pt x="31705" y="6953"/>
                    <a:pt x="48491" y="0"/>
                    <a:pt x="65993" y="0"/>
                  </a:cubicBezTo>
                  <a:close/>
                </a:path>
              </a:pathLst>
            </a:custGeom>
            <a:solidFill>
              <a:srgbClr val="FFFFFF"/>
            </a:solidFill>
          </p:spPr>
        </p:sp>
        <p:sp>
          <p:nvSpPr>
            <p:cNvPr name="TextBox 16" id="16"/>
            <p:cNvSpPr txBox="true"/>
            <p:nvPr/>
          </p:nvSpPr>
          <p:spPr>
            <a:xfrm>
              <a:off x="0" y="-47625"/>
              <a:ext cx="698680" cy="104758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4360716" y="4104050"/>
            <a:ext cx="2940815" cy="1879860"/>
          </a:xfrm>
          <a:custGeom>
            <a:avLst/>
            <a:gdLst/>
            <a:ahLst/>
            <a:cxnLst/>
            <a:rect r="r" b="b" t="t" l="l"/>
            <a:pathLst>
              <a:path h="1879860" w="2940815">
                <a:moveTo>
                  <a:pt x="0" y="0"/>
                </a:moveTo>
                <a:lnTo>
                  <a:pt x="2940815" y="0"/>
                </a:lnTo>
                <a:lnTo>
                  <a:pt x="2940815" y="1879860"/>
                </a:lnTo>
                <a:lnTo>
                  <a:pt x="0" y="1879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8" id="18"/>
          <p:cNvGrpSpPr/>
          <p:nvPr/>
        </p:nvGrpSpPr>
        <p:grpSpPr>
          <a:xfrm rot="5400000">
            <a:off x="3548062" y="2724473"/>
            <a:ext cx="238125" cy="208359"/>
            <a:chOff x="0" y="0"/>
            <a:chExt cx="812800" cy="711200"/>
          </a:xfrm>
        </p:grpSpPr>
        <p:sp>
          <p:nvSpPr>
            <p:cNvPr name="Freeform 19" id="19"/>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C7D2D9"/>
            </a:solidFill>
          </p:spPr>
        </p:sp>
        <p:sp>
          <p:nvSpPr>
            <p:cNvPr name="TextBox 20" id="20"/>
            <p:cNvSpPr txBox="true"/>
            <p:nvPr/>
          </p:nvSpPr>
          <p:spPr>
            <a:xfrm>
              <a:off x="127000" y="282575"/>
              <a:ext cx="558800" cy="37782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4692312" y="2724473"/>
            <a:ext cx="238125" cy="208359"/>
            <a:chOff x="0" y="0"/>
            <a:chExt cx="812800" cy="711200"/>
          </a:xfrm>
        </p:grpSpPr>
        <p:sp>
          <p:nvSpPr>
            <p:cNvPr name="Freeform 22" id="22"/>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C7D2D9"/>
            </a:solidFill>
          </p:spPr>
        </p:sp>
        <p:sp>
          <p:nvSpPr>
            <p:cNvPr name="TextBox 23" id="23"/>
            <p:cNvSpPr txBox="true"/>
            <p:nvPr/>
          </p:nvSpPr>
          <p:spPr>
            <a:xfrm>
              <a:off x="127000" y="282575"/>
              <a:ext cx="558800" cy="37782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5400000">
            <a:off x="4926282" y="3449080"/>
            <a:ext cx="238125" cy="208359"/>
            <a:chOff x="0" y="0"/>
            <a:chExt cx="812800" cy="711200"/>
          </a:xfrm>
        </p:grpSpPr>
        <p:sp>
          <p:nvSpPr>
            <p:cNvPr name="Freeform 25" id="25"/>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C7D2D9"/>
            </a:solidFill>
          </p:spPr>
        </p:sp>
        <p:sp>
          <p:nvSpPr>
            <p:cNvPr name="TextBox 26" id="26"/>
            <p:cNvSpPr txBox="true"/>
            <p:nvPr/>
          </p:nvSpPr>
          <p:spPr>
            <a:xfrm>
              <a:off x="127000" y="282575"/>
              <a:ext cx="558800" cy="37782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5400000">
            <a:off x="13115877" y="3449080"/>
            <a:ext cx="238125" cy="208359"/>
            <a:chOff x="0" y="0"/>
            <a:chExt cx="812800" cy="711200"/>
          </a:xfrm>
        </p:grpSpPr>
        <p:sp>
          <p:nvSpPr>
            <p:cNvPr name="Freeform 28" id="2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C7D2D9"/>
            </a:solidFill>
          </p:spPr>
        </p:sp>
        <p:sp>
          <p:nvSpPr>
            <p:cNvPr name="TextBox 29" id="29"/>
            <p:cNvSpPr txBox="true"/>
            <p:nvPr/>
          </p:nvSpPr>
          <p:spPr>
            <a:xfrm>
              <a:off x="127000" y="282575"/>
              <a:ext cx="558800" cy="377825"/>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5400000">
            <a:off x="7450635" y="3707385"/>
            <a:ext cx="238125" cy="208359"/>
            <a:chOff x="0" y="0"/>
            <a:chExt cx="812800" cy="711200"/>
          </a:xfrm>
        </p:grpSpPr>
        <p:sp>
          <p:nvSpPr>
            <p:cNvPr name="Freeform 31" id="3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C7D2D9"/>
            </a:solidFill>
          </p:spPr>
        </p:sp>
        <p:sp>
          <p:nvSpPr>
            <p:cNvPr name="TextBox 32" id="32"/>
            <p:cNvSpPr txBox="true"/>
            <p:nvPr/>
          </p:nvSpPr>
          <p:spPr>
            <a:xfrm>
              <a:off x="127000" y="282575"/>
              <a:ext cx="558800" cy="377825"/>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5400000">
            <a:off x="10694850" y="3707385"/>
            <a:ext cx="238125" cy="208359"/>
            <a:chOff x="0" y="0"/>
            <a:chExt cx="812800" cy="711200"/>
          </a:xfrm>
        </p:grpSpPr>
        <p:sp>
          <p:nvSpPr>
            <p:cNvPr name="Freeform 34" id="3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C7D2D9"/>
            </a:solidFill>
          </p:spPr>
        </p:sp>
        <p:sp>
          <p:nvSpPr>
            <p:cNvPr name="TextBox 35" id="35"/>
            <p:cNvSpPr txBox="true"/>
            <p:nvPr/>
          </p:nvSpPr>
          <p:spPr>
            <a:xfrm>
              <a:off x="127000" y="282575"/>
              <a:ext cx="558800" cy="377825"/>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1171328" y="5053480"/>
            <a:ext cx="2698215" cy="3861701"/>
            <a:chOff x="0" y="0"/>
            <a:chExt cx="698680" cy="999955"/>
          </a:xfrm>
        </p:grpSpPr>
        <p:sp>
          <p:nvSpPr>
            <p:cNvPr name="Freeform 37" id="37"/>
            <p:cNvSpPr/>
            <p:nvPr/>
          </p:nvSpPr>
          <p:spPr>
            <a:xfrm flipH="false" flipV="false" rot="0">
              <a:off x="0" y="0"/>
              <a:ext cx="698680" cy="999955"/>
            </a:xfrm>
            <a:custGeom>
              <a:avLst/>
              <a:gdLst/>
              <a:ahLst/>
              <a:cxnLst/>
              <a:rect r="r" b="b" t="t" l="l"/>
              <a:pathLst>
                <a:path h="999955" w="698680">
                  <a:moveTo>
                    <a:pt x="65993" y="0"/>
                  </a:moveTo>
                  <a:lnTo>
                    <a:pt x="632687" y="0"/>
                  </a:lnTo>
                  <a:cubicBezTo>
                    <a:pt x="650190" y="0"/>
                    <a:pt x="666975" y="6953"/>
                    <a:pt x="679351" y="19329"/>
                  </a:cubicBezTo>
                  <a:cubicBezTo>
                    <a:pt x="691727" y="31705"/>
                    <a:pt x="698680" y="48491"/>
                    <a:pt x="698680" y="65993"/>
                  </a:cubicBezTo>
                  <a:lnTo>
                    <a:pt x="698680" y="933962"/>
                  </a:lnTo>
                  <a:cubicBezTo>
                    <a:pt x="698680" y="951464"/>
                    <a:pt x="691727" y="968250"/>
                    <a:pt x="679351" y="980626"/>
                  </a:cubicBezTo>
                  <a:cubicBezTo>
                    <a:pt x="666975" y="993002"/>
                    <a:pt x="650190" y="999955"/>
                    <a:pt x="632687" y="999955"/>
                  </a:cubicBezTo>
                  <a:lnTo>
                    <a:pt x="65993" y="999955"/>
                  </a:lnTo>
                  <a:cubicBezTo>
                    <a:pt x="48491" y="999955"/>
                    <a:pt x="31705" y="993002"/>
                    <a:pt x="19329" y="980626"/>
                  </a:cubicBezTo>
                  <a:cubicBezTo>
                    <a:pt x="6953" y="968250"/>
                    <a:pt x="0" y="951464"/>
                    <a:pt x="0" y="933962"/>
                  </a:cubicBezTo>
                  <a:lnTo>
                    <a:pt x="0" y="65993"/>
                  </a:lnTo>
                  <a:cubicBezTo>
                    <a:pt x="0" y="48491"/>
                    <a:pt x="6953" y="31705"/>
                    <a:pt x="19329" y="19329"/>
                  </a:cubicBezTo>
                  <a:cubicBezTo>
                    <a:pt x="31705" y="6953"/>
                    <a:pt x="48491" y="0"/>
                    <a:pt x="65993" y="0"/>
                  </a:cubicBezTo>
                  <a:close/>
                </a:path>
              </a:pathLst>
            </a:custGeom>
            <a:solidFill>
              <a:srgbClr val="FFFFFF"/>
            </a:solidFill>
          </p:spPr>
        </p:sp>
        <p:sp>
          <p:nvSpPr>
            <p:cNvPr name="TextBox 38" id="38"/>
            <p:cNvSpPr txBox="true"/>
            <p:nvPr/>
          </p:nvSpPr>
          <p:spPr>
            <a:xfrm>
              <a:off x="0" y="-47625"/>
              <a:ext cx="698680" cy="1047580"/>
            </a:xfrm>
            <a:prstGeom prst="rect">
              <a:avLst/>
            </a:prstGeom>
          </p:spPr>
          <p:txBody>
            <a:bodyPr anchor="ctr" rtlCol="false" tIns="50800" lIns="50800" bIns="50800" rIns="50800"/>
            <a:lstStyle/>
            <a:p>
              <a:pPr algn="ctr">
                <a:lnSpc>
                  <a:spcPts val="2659"/>
                </a:lnSpc>
              </a:pPr>
            </a:p>
          </p:txBody>
        </p:sp>
      </p:grpSp>
      <p:sp>
        <p:nvSpPr>
          <p:cNvPr name="Freeform 39" id="39"/>
          <p:cNvSpPr/>
          <p:nvPr/>
        </p:nvSpPr>
        <p:spPr>
          <a:xfrm flipH="false" flipV="false" rot="0">
            <a:off x="11050028" y="4104050"/>
            <a:ext cx="2940815" cy="1879860"/>
          </a:xfrm>
          <a:custGeom>
            <a:avLst/>
            <a:gdLst/>
            <a:ahLst/>
            <a:cxnLst/>
            <a:rect r="r" b="b" t="t" l="l"/>
            <a:pathLst>
              <a:path h="1879860" w="2940815">
                <a:moveTo>
                  <a:pt x="0" y="0"/>
                </a:moveTo>
                <a:lnTo>
                  <a:pt x="2940816" y="0"/>
                </a:lnTo>
                <a:lnTo>
                  <a:pt x="2940816" y="1879860"/>
                </a:lnTo>
                <a:lnTo>
                  <a:pt x="0" y="1879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0" id="40"/>
          <p:cNvGrpSpPr/>
          <p:nvPr/>
        </p:nvGrpSpPr>
        <p:grpSpPr>
          <a:xfrm rot="0">
            <a:off x="14515985" y="4081998"/>
            <a:ext cx="2698215" cy="3861701"/>
            <a:chOff x="0" y="0"/>
            <a:chExt cx="698680" cy="999955"/>
          </a:xfrm>
        </p:grpSpPr>
        <p:sp>
          <p:nvSpPr>
            <p:cNvPr name="Freeform 41" id="41"/>
            <p:cNvSpPr/>
            <p:nvPr/>
          </p:nvSpPr>
          <p:spPr>
            <a:xfrm flipH="false" flipV="false" rot="0">
              <a:off x="0" y="0"/>
              <a:ext cx="698680" cy="999955"/>
            </a:xfrm>
            <a:custGeom>
              <a:avLst/>
              <a:gdLst/>
              <a:ahLst/>
              <a:cxnLst/>
              <a:rect r="r" b="b" t="t" l="l"/>
              <a:pathLst>
                <a:path h="999955" w="698680">
                  <a:moveTo>
                    <a:pt x="65993" y="0"/>
                  </a:moveTo>
                  <a:lnTo>
                    <a:pt x="632687" y="0"/>
                  </a:lnTo>
                  <a:cubicBezTo>
                    <a:pt x="650190" y="0"/>
                    <a:pt x="666975" y="6953"/>
                    <a:pt x="679351" y="19329"/>
                  </a:cubicBezTo>
                  <a:cubicBezTo>
                    <a:pt x="691727" y="31705"/>
                    <a:pt x="698680" y="48491"/>
                    <a:pt x="698680" y="65993"/>
                  </a:cubicBezTo>
                  <a:lnTo>
                    <a:pt x="698680" y="933962"/>
                  </a:lnTo>
                  <a:cubicBezTo>
                    <a:pt x="698680" y="951464"/>
                    <a:pt x="691727" y="968250"/>
                    <a:pt x="679351" y="980626"/>
                  </a:cubicBezTo>
                  <a:cubicBezTo>
                    <a:pt x="666975" y="993002"/>
                    <a:pt x="650190" y="999955"/>
                    <a:pt x="632687" y="999955"/>
                  </a:cubicBezTo>
                  <a:lnTo>
                    <a:pt x="65993" y="999955"/>
                  </a:lnTo>
                  <a:cubicBezTo>
                    <a:pt x="48491" y="999955"/>
                    <a:pt x="31705" y="993002"/>
                    <a:pt x="19329" y="980626"/>
                  </a:cubicBezTo>
                  <a:cubicBezTo>
                    <a:pt x="6953" y="968250"/>
                    <a:pt x="0" y="951464"/>
                    <a:pt x="0" y="933962"/>
                  </a:cubicBezTo>
                  <a:lnTo>
                    <a:pt x="0" y="65993"/>
                  </a:lnTo>
                  <a:cubicBezTo>
                    <a:pt x="0" y="48491"/>
                    <a:pt x="6953" y="31705"/>
                    <a:pt x="19329" y="19329"/>
                  </a:cubicBezTo>
                  <a:cubicBezTo>
                    <a:pt x="31705" y="6953"/>
                    <a:pt x="48491" y="0"/>
                    <a:pt x="65993" y="0"/>
                  </a:cubicBezTo>
                  <a:close/>
                </a:path>
              </a:pathLst>
            </a:custGeom>
            <a:solidFill>
              <a:srgbClr val="FFFFFF"/>
            </a:solidFill>
          </p:spPr>
        </p:sp>
        <p:sp>
          <p:nvSpPr>
            <p:cNvPr name="TextBox 42" id="42"/>
            <p:cNvSpPr txBox="true"/>
            <p:nvPr/>
          </p:nvSpPr>
          <p:spPr>
            <a:xfrm>
              <a:off x="0" y="-47625"/>
              <a:ext cx="698680" cy="1047580"/>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0">
            <a:off x="14394685" y="3132568"/>
            <a:ext cx="2940815" cy="1879860"/>
          </a:xfrm>
          <a:custGeom>
            <a:avLst/>
            <a:gdLst/>
            <a:ahLst/>
            <a:cxnLst/>
            <a:rect r="r" b="b" t="t" l="l"/>
            <a:pathLst>
              <a:path h="1879860" w="2940815">
                <a:moveTo>
                  <a:pt x="0" y="0"/>
                </a:moveTo>
                <a:lnTo>
                  <a:pt x="2940815" y="0"/>
                </a:lnTo>
                <a:lnTo>
                  <a:pt x="2940815" y="1879860"/>
                </a:lnTo>
                <a:lnTo>
                  <a:pt x="0" y="1879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4" id="44"/>
          <p:cNvSpPr/>
          <p:nvPr/>
        </p:nvSpPr>
        <p:spPr>
          <a:xfrm flipH="false" flipV="false" rot="5400000">
            <a:off x="8842983" y="7956870"/>
            <a:ext cx="665593" cy="2698215"/>
          </a:xfrm>
          <a:custGeom>
            <a:avLst/>
            <a:gdLst/>
            <a:ahLst/>
            <a:cxnLst/>
            <a:rect r="r" b="b" t="t" l="l"/>
            <a:pathLst>
              <a:path h="2698215" w="665593">
                <a:moveTo>
                  <a:pt x="0" y="0"/>
                </a:moveTo>
                <a:lnTo>
                  <a:pt x="665593" y="0"/>
                </a:lnTo>
                <a:lnTo>
                  <a:pt x="665593" y="2698215"/>
                </a:lnTo>
                <a:lnTo>
                  <a:pt x="0" y="2698215"/>
                </a:lnTo>
                <a:lnTo>
                  <a:pt x="0" y="0"/>
                </a:lnTo>
                <a:close/>
              </a:path>
            </a:pathLst>
          </a:custGeom>
          <a:blipFill>
            <a:blip r:embed="rId2">
              <a:alphaModFix amt="60000"/>
            </a:blip>
            <a:stretch>
              <a:fillRect l="-77632" t="0" r="0" b="0"/>
            </a:stretch>
          </a:blipFill>
        </p:spPr>
      </p:sp>
      <p:grpSp>
        <p:nvGrpSpPr>
          <p:cNvPr name="Group 45" id="45"/>
          <p:cNvGrpSpPr/>
          <p:nvPr/>
        </p:nvGrpSpPr>
        <p:grpSpPr>
          <a:xfrm rot="0">
            <a:off x="7826672" y="5767548"/>
            <a:ext cx="2698215" cy="3861701"/>
            <a:chOff x="0" y="0"/>
            <a:chExt cx="698680" cy="999955"/>
          </a:xfrm>
        </p:grpSpPr>
        <p:sp>
          <p:nvSpPr>
            <p:cNvPr name="Freeform 46" id="46"/>
            <p:cNvSpPr/>
            <p:nvPr/>
          </p:nvSpPr>
          <p:spPr>
            <a:xfrm flipH="false" flipV="false" rot="0">
              <a:off x="0" y="0"/>
              <a:ext cx="698680" cy="999955"/>
            </a:xfrm>
            <a:custGeom>
              <a:avLst/>
              <a:gdLst/>
              <a:ahLst/>
              <a:cxnLst/>
              <a:rect r="r" b="b" t="t" l="l"/>
              <a:pathLst>
                <a:path h="999955" w="698680">
                  <a:moveTo>
                    <a:pt x="65993" y="0"/>
                  </a:moveTo>
                  <a:lnTo>
                    <a:pt x="632687" y="0"/>
                  </a:lnTo>
                  <a:cubicBezTo>
                    <a:pt x="650190" y="0"/>
                    <a:pt x="666975" y="6953"/>
                    <a:pt x="679351" y="19329"/>
                  </a:cubicBezTo>
                  <a:cubicBezTo>
                    <a:pt x="691727" y="31705"/>
                    <a:pt x="698680" y="48491"/>
                    <a:pt x="698680" y="65993"/>
                  </a:cubicBezTo>
                  <a:lnTo>
                    <a:pt x="698680" y="933962"/>
                  </a:lnTo>
                  <a:cubicBezTo>
                    <a:pt x="698680" y="951464"/>
                    <a:pt x="691727" y="968250"/>
                    <a:pt x="679351" y="980626"/>
                  </a:cubicBezTo>
                  <a:cubicBezTo>
                    <a:pt x="666975" y="993002"/>
                    <a:pt x="650190" y="999955"/>
                    <a:pt x="632687" y="999955"/>
                  </a:cubicBezTo>
                  <a:lnTo>
                    <a:pt x="65993" y="999955"/>
                  </a:lnTo>
                  <a:cubicBezTo>
                    <a:pt x="48491" y="999955"/>
                    <a:pt x="31705" y="993002"/>
                    <a:pt x="19329" y="980626"/>
                  </a:cubicBezTo>
                  <a:cubicBezTo>
                    <a:pt x="6953" y="968250"/>
                    <a:pt x="0" y="951464"/>
                    <a:pt x="0" y="933962"/>
                  </a:cubicBezTo>
                  <a:lnTo>
                    <a:pt x="0" y="65993"/>
                  </a:lnTo>
                  <a:cubicBezTo>
                    <a:pt x="0" y="48491"/>
                    <a:pt x="6953" y="31705"/>
                    <a:pt x="19329" y="19329"/>
                  </a:cubicBezTo>
                  <a:cubicBezTo>
                    <a:pt x="31705" y="6953"/>
                    <a:pt x="48491" y="0"/>
                    <a:pt x="65993" y="0"/>
                  </a:cubicBezTo>
                  <a:close/>
                </a:path>
              </a:pathLst>
            </a:custGeom>
            <a:solidFill>
              <a:srgbClr val="FFFFFF"/>
            </a:solidFill>
          </p:spPr>
        </p:sp>
        <p:sp>
          <p:nvSpPr>
            <p:cNvPr name="TextBox 47" id="47"/>
            <p:cNvSpPr txBox="true"/>
            <p:nvPr/>
          </p:nvSpPr>
          <p:spPr>
            <a:xfrm>
              <a:off x="0" y="-47625"/>
              <a:ext cx="698680" cy="1047580"/>
            </a:xfrm>
            <a:prstGeom prst="rect">
              <a:avLst/>
            </a:prstGeom>
          </p:spPr>
          <p:txBody>
            <a:bodyPr anchor="ctr" rtlCol="false" tIns="50800" lIns="50800" bIns="50800" rIns="50800"/>
            <a:lstStyle/>
            <a:p>
              <a:pPr algn="ctr">
                <a:lnSpc>
                  <a:spcPts val="2659"/>
                </a:lnSpc>
              </a:pPr>
            </a:p>
          </p:txBody>
        </p:sp>
      </p:grpSp>
      <p:sp>
        <p:nvSpPr>
          <p:cNvPr name="Freeform 48" id="48"/>
          <p:cNvSpPr/>
          <p:nvPr/>
        </p:nvSpPr>
        <p:spPr>
          <a:xfrm flipH="false" flipV="false" rot="0">
            <a:off x="7705372" y="4818118"/>
            <a:ext cx="2940815" cy="1879860"/>
          </a:xfrm>
          <a:custGeom>
            <a:avLst/>
            <a:gdLst/>
            <a:ahLst/>
            <a:cxnLst/>
            <a:rect r="r" b="b" t="t" l="l"/>
            <a:pathLst>
              <a:path h="1879860" w="2940815">
                <a:moveTo>
                  <a:pt x="0" y="0"/>
                </a:moveTo>
                <a:lnTo>
                  <a:pt x="2940815" y="0"/>
                </a:lnTo>
                <a:lnTo>
                  <a:pt x="2940815" y="1879860"/>
                </a:lnTo>
                <a:lnTo>
                  <a:pt x="0" y="1879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9" id="49"/>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50" id="50"/>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5"/>
            <a:stretch>
              <a:fillRect l="0" t="0" r="0" b="0"/>
            </a:stretch>
          </a:blipFill>
        </p:spPr>
      </p:sp>
      <p:sp>
        <p:nvSpPr>
          <p:cNvPr name="Freeform 51" id="51"/>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6"/>
            <a:stretch>
              <a:fillRect l="0" t="0" r="0" b="0"/>
            </a:stretch>
          </a:blipFill>
        </p:spPr>
      </p:sp>
      <p:sp>
        <p:nvSpPr>
          <p:cNvPr name="Freeform 52" id="52"/>
          <p:cNvSpPr/>
          <p:nvPr/>
        </p:nvSpPr>
        <p:spPr>
          <a:xfrm flipH="false" flipV="false" rot="0">
            <a:off x="2224669" y="3303332"/>
            <a:ext cx="506696" cy="559934"/>
          </a:xfrm>
          <a:custGeom>
            <a:avLst/>
            <a:gdLst/>
            <a:ahLst/>
            <a:cxnLst/>
            <a:rect r="r" b="b" t="t" l="l"/>
            <a:pathLst>
              <a:path h="559934" w="506696">
                <a:moveTo>
                  <a:pt x="0" y="0"/>
                </a:moveTo>
                <a:lnTo>
                  <a:pt x="506696" y="0"/>
                </a:lnTo>
                <a:lnTo>
                  <a:pt x="506696" y="559934"/>
                </a:lnTo>
                <a:lnTo>
                  <a:pt x="0" y="559934"/>
                </a:lnTo>
                <a:lnTo>
                  <a:pt x="0" y="0"/>
                </a:lnTo>
                <a:close/>
              </a:path>
            </a:pathLst>
          </a:custGeom>
          <a:blipFill>
            <a:blip r:embed="rId7"/>
            <a:stretch>
              <a:fillRect l="-5253" t="0" r="-5253" b="0"/>
            </a:stretch>
          </a:blipFill>
        </p:spPr>
      </p:sp>
      <p:sp>
        <p:nvSpPr>
          <p:cNvPr name="Freeform 53" id="53"/>
          <p:cNvSpPr/>
          <p:nvPr/>
        </p:nvSpPr>
        <p:spPr>
          <a:xfrm flipH="false" flipV="false" rot="0">
            <a:off x="5551103" y="4258077"/>
            <a:ext cx="560041" cy="560041"/>
          </a:xfrm>
          <a:custGeom>
            <a:avLst/>
            <a:gdLst/>
            <a:ahLst/>
            <a:cxnLst/>
            <a:rect r="r" b="b" t="t" l="l"/>
            <a:pathLst>
              <a:path h="560041" w="560041">
                <a:moveTo>
                  <a:pt x="0" y="0"/>
                </a:moveTo>
                <a:lnTo>
                  <a:pt x="560041" y="0"/>
                </a:lnTo>
                <a:lnTo>
                  <a:pt x="560041" y="560041"/>
                </a:lnTo>
                <a:lnTo>
                  <a:pt x="0" y="560041"/>
                </a:lnTo>
                <a:lnTo>
                  <a:pt x="0" y="0"/>
                </a:lnTo>
                <a:close/>
              </a:path>
            </a:pathLst>
          </a:custGeom>
          <a:blipFill>
            <a:blip r:embed="rId8"/>
            <a:stretch>
              <a:fillRect l="0" t="0" r="0" b="0"/>
            </a:stretch>
          </a:blipFill>
        </p:spPr>
      </p:sp>
      <p:sp>
        <p:nvSpPr>
          <p:cNvPr name="Freeform 54" id="54"/>
          <p:cNvSpPr/>
          <p:nvPr/>
        </p:nvSpPr>
        <p:spPr>
          <a:xfrm flipH="false" flipV="false" rot="0">
            <a:off x="8877514" y="5012428"/>
            <a:ext cx="596532" cy="596532"/>
          </a:xfrm>
          <a:custGeom>
            <a:avLst/>
            <a:gdLst/>
            <a:ahLst/>
            <a:cxnLst/>
            <a:rect r="r" b="b" t="t" l="l"/>
            <a:pathLst>
              <a:path h="596532" w="596532">
                <a:moveTo>
                  <a:pt x="0" y="0"/>
                </a:moveTo>
                <a:lnTo>
                  <a:pt x="596531" y="0"/>
                </a:lnTo>
                <a:lnTo>
                  <a:pt x="596531" y="596532"/>
                </a:lnTo>
                <a:lnTo>
                  <a:pt x="0" y="596532"/>
                </a:lnTo>
                <a:lnTo>
                  <a:pt x="0" y="0"/>
                </a:lnTo>
                <a:close/>
              </a:path>
            </a:pathLst>
          </a:custGeom>
          <a:blipFill>
            <a:blip r:embed="rId9"/>
            <a:stretch>
              <a:fillRect l="0" t="0" r="0" b="0"/>
            </a:stretch>
          </a:blipFill>
        </p:spPr>
      </p:sp>
      <p:sp>
        <p:nvSpPr>
          <p:cNvPr name="Freeform 55" id="55"/>
          <p:cNvSpPr/>
          <p:nvPr/>
        </p:nvSpPr>
        <p:spPr>
          <a:xfrm flipH="false" flipV="false" rot="0">
            <a:off x="12185887" y="4207806"/>
            <a:ext cx="679633" cy="679633"/>
          </a:xfrm>
          <a:custGeom>
            <a:avLst/>
            <a:gdLst/>
            <a:ahLst/>
            <a:cxnLst/>
            <a:rect r="r" b="b" t="t" l="l"/>
            <a:pathLst>
              <a:path h="679633" w="679633">
                <a:moveTo>
                  <a:pt x="0" y="0"/>
                </a:moveTo>
                <a:lnTo>
                  <a:pt x="679633" y="0"/>
                </a:lnTo>
                <a:lnTo>
                  <a:pt x="679633" y="679633"/>
                </a:lnTo>
                <a:lnTo>
                  <a:pt x="0" y="679633"/>
                </a:lnTo>
                <a:lnTo>
                  <a:pt x="0" y="0"/>
                </a:lnTo>
                <a:close/>
              </a:path>
            </a:pathLst>
          </a:custGeom>
          <a:blipFill>
            <a:blip r:embed="rId10"/>
            <a:stretch>
              <a:fillRect l="0" t="0" r="0" b="0"/>
            </a:stretch>
          </a:blipFill>
        </p:spPr>
      </p:sp>
      <p:sp>
        <p:nvSpPr>
          <p:cNvPr name="Freeform 56" id="56"/>
          <p:cNvSpPr/>
          <p:nvPr/>
        </p:nvSpPr>
        <p:spPr>
          <a:xfrm flipH="false" flipV="false" rot="0">
            <a:off x="15548000" y="3296442"/>
            <a:ext cx="634185" cy="634185"/>
          </a:xfrm>
          <a:custGeom>
            <a:avLst/>
            <a:gdLst/>
            <a:ahLst/>
            <a:cxnLst/>
            <a:rect r="r" b="b" t="t" l="l"/>
            <a:pathLst>
              <a:path h="634185" w="634185">
                <a:moveTo>
                  <a:pt x="0" y="0"/>
                </a:moveTo>
                <a:lnTo>
                  <a:pt x="634185" y="0"/>
                </a:lnTo>
                <a:lnTo>
                  <a:pt x="634185" y="634185"/>
                </a:lnTo>
                <a:lnTo>
                  <a:pt x="0" y="634185"/>
                </a:lnTo>
                <a:lnTo>
                  <a:pt x="0" y="0"/>
                </a:lnTo>
                <a:close/>
              </a:path>
            </a:pathLst>
          </a:custGeom>
          <a:blipFill>
            <a:blip r:embed="rId11"/>
            <a:stretch>
              <a:fillRect l="0" t="0" r="0" b="0"/>
            </a:stretch>
          </a:blipFill>
        </p:spPr>
      </p:sp>
      <p:sp>
        <p:nvSpPr>
          <p:cNvPr name="TextBox 57" id="57"/>
          <p:cNvSpPr txBox="true"/>
          <p:nvPr/>
        </p:nvSpPr>
        <p:spPr>
          <a:xfrm rot="0">
            <a:off x="1361894" y="7139822"/>
            <a:ext cx="2249146"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304F86"/>
                </a:solidFill>
                <a:latin typeface="Proxima Nova Bold"/>
                <a:ea typeface="Proxima Nova Bold"/>
                <a:cs typeface="Proxima Nova Bold"/>
                <a:sym typeface="Proxima Nova Bold"/>
              </a:rPr>
              <a:t>01</a:t>
            </a:r>
          </a:p>
        </p:txBody>
      </p:sp>
      <p:sp>
        <p:nvSpPr>
          <p:cNvPr name="TextBox 58" id="58"/>
          <p:cNvSpPr txBox="true"/>
          <p:nvPr/>
        </p:nvSpPr>
        <p:spPr>
          <a:xfrm rot="0">
            <a:off x="4663182" y="6362655"/>
            <a:ext cx="2335882" cy="935355"/>
          </a:xfrm>
          <a:prstGeom prst="rect">
            <a:avLst/>
          </a:prstGeom>
        </p:spPr>
        <p:txBody>
          <a:bodyPr anchor="t" rtlCol="false" tIns="0" lIns="0" bIns="0" rIns="0">
            <a:spAutoFit/>
          </a:bodyPr>
          <a:lstStyle/>
          <a:p>
            <a:pPr algn="ctr" marL="0" indent="0" lvl="0">
              <a:lnSpc>
                <a:spcPts val="2520"/>
              </a:lnSpc>
              <a:spcBef>
                <a:spcPct val="0"/>
              </a:spcBef>
            </a:pPr>
            <a:r>
              <a:rPr lang="en-US" b="true" sz="1800" strike="noStrike" u="none">
                <a:solidFill>
                  <a:srgbClr val="000000"/>
                </a:solidFill>
                <a:latin typeface="Proxima Nova Bold"/>
                <a:ea typeface="Proxima Nova Bold"/>
                <a:cs typeface="Proxima Nova Bold"/>
                <a:sym typeface="Proxima Nova Bold"/>
              </a:rPr>
              <a:t>Power Apps</a:t>
            </a:r>
          </a:p>
          <a:p>
            <a:pPr algn="ctr" marL="0" indent="0" lvl="0">
              <a:lnSpc>
                <a:spcPts val="2520"/>
              </a:lnSpc>
              <a:spcBef>
                <a:spcPct val="0"/>
              </a:spcBef>
            </a:pPr>
            <a:r>
              <a:rPr lang="en-US" b="true" sz="1800" strike="noStrike" u="none">
                <a:solidFill>
                  <a:srgbClr val="000000"/>
                </a:solidFill>
                <a:latin typeface="Proxima Nova Bold"/>
                <a:ea typeface="Proxima Nova Bold"/>
                <a:cs typeface="Proxima Nova Bold"/>
                <a:sym typeface="Proxima Nova Bold"/>
              </a:rPr>
              <a:t>Submit to SQL</a:t>
            </a:r>
          </a:p>
          <a:p>
            <a:pPr algn="ctr" marL="0" indent="0" lvl="0">
              <a:lnSpc>
                <a:spcPts val="2520"/>
              </a:lnSpc>
              <a:spcBef>
                <a:spcPct val="0"/>
              </a:spcBef>
            </a:pPr>
          </a:p>
        </p:txBody>
      </p:sp>
      <p:sp>
        <p:nvSpPr>
          <p:cNvPr name="TextBox 59" id="59"/>
          <p:cNvSpPr txBox="true"/>
          <p:nvPr/>
        </p:nvSpPr>
        <p:spPr>
          <a:xfrm rot="0">
            <a:off x="4706550" y="8115283"/>
            <a:ext cx="2249146"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304F86"/>
                </a:solidFill>
                <a:latin typeface="Proxima Nova Bold"/>
                <a:ea typeface="Proxima Nova Bold"/>
                <a:cs typeface="Proxima Nova Bold"/>
                <a:sym typeface="Proxima Nova Bold"/>
              </a:rPr>
              <a:t>02</a:t>
            </a:r>
          </a:p>
        </p:txBody>
      </p:sp>
      <p:sp>
        <p:nvSpPr>
          <p:cNvPr name="TextBox 60" id="60"/>
          <p:cNvSpPr txBox="true"/>
          <p:nvPr/>
        </p:nvSpPr>
        <p:spPr>
          <a:xfrm rot="0">
            <a:off x="1318526" y="5391173"/>
            <a:ext cx="2335882" cy="935355"/>
          </a:xfrm>
          <a:prstGeom prst="rect">
            <a:avLst/>
          </a:prstGeom>
        </p:spPr>
        <p:txBody>
          <a:bodyPr anchor="t" rtlCol="false" tIns="0" lIns="0" bIns="0" rIns="0">
            <a:spAutoFit/>
          </a:bodyPr>
          <a:lstStyle/>
          <a:p>
            <a:pPr algn="ctr" marL="0" indent="0" lvl="0">
              <a:lnSpc>
                <a:spcPts val="2520"/>
              </a:lnSpc>
              <a:spcBef>
                <a:spcPct val="0"/>
              </a:spcBef>
            </a:pPr>
            <a:r>
              <a:rPr lang="en-US" b="true" sz="1800" strike="noStrike" u="none">
                <a:solidFill>
                  <a:srgbClr val="000000"/>
                </a:solidFill>
                <a:latin typeface="Proxima Nova Bold"/>
                <a:ea typeface="Proxima Nova Bold"/>
                <a:cs typeface="Proxima Nova Bold"/>
                <a:sym typeface="Proxima Nova Bold"/>
              </a:rPr>
              <a:t>Quality Inspector</a:t>
            </a:r>
          </a:p>
          <a:p>
            <a:pPr algn="ctr" marL="0" indent="0" lvl="0">
              <a:lnSpc>
                <a:spcPts val="2520"/>
              </a:lnSpc>
              <a:spcBef>
                <a:spcPct val="0"/>
              </a:spcBef>
            </a:pPr>
            <a:r>
              <a:rPr lang="en-US" b="true" sz="1800" strike="noStrike" u="none">
                <a:solidFill>
                  <a:srgbClr val="000000"/>
                </a:solidFill>
                <a:latin typeface="Proxima Nova Bold"/>
                <a:ea typeface="Proxima Nova Bold"/>
                <a:cs typeface="Proxima Nova Bold"/>
                <a:sym typeface="Proxima Nova Bold"/>
              </a:rPr>
              <a:t>logs failed batch</a:t>
            </a:r>
          </a:p>
          <a:p>
            <a:pPr algn="ctr" marL="0" indent="0" lvl="0">
              <a:lnSpc>
                <a:spcPts val="2520"/>
              </a:lnSpc>
              <a:spcBef>
                <a:spcPct val="0"/>
              </a:spcBef>
            </a:pPr>
          </a:p>
        </p:txBody>
      </p:sp>
      <p:sp>
        <p:nvSpPr>
          <p:cNvPr name="TextBox 61" id="61"/>
          <p:cNvSpPr txBox="true"/>
          <p:nvPr/>
        </p:nvSpPr>
        <p:spPr>
          <a:xfrm rot="0">
            <a:off x="11395863" y="6307930"/>
            <a:ext cx="2335882" cy="935355"/>
          </a:xfrm>
          <a:prstGeom prst="rect">
            <a:avLst/>
          </a:prstGeom>
        </p:spPr>
        <p:txBody>
          <a:bodyPr anchor="t" rtlCol="false" tIns="0" lIns="0" bIns="0" rIns="0">
            <a:spAutoFit/>
          </a:bodyPr>
          <a:lstStyle/>
          <a:p>
            <a:pPr algn="ctr">
              <a:lnSpc>
                <a:spcPts val="2520"/>
              </a:lnSpc>
            </a:pPr>
            <a:r>
              <a:rPr lang="en-US" sz="1800" b="true">
                <a:solidFill>
                  <a:srgbClr val="000000"/>
                </a:solidFill>
                <a:latin typeface="Proxima Nova Bold"/>
                <a:ea typeface="Proxima Nova Bold"/>
                <a:cs typeface="Proxima Nova Bold"/>
                <a:sym typeface="Proxima Nova Bold"/>
              </a:rPr>
              <a:t>Recommendation is generated</a:t>
            </a:r>
          </a:p>
          <a:p>
            <a:pPr algn="ctr">
              <a:lnSpc>
                <a:spcPts val="2520"/>
              </a:lnSpc>
              <a:spcBef>
                <a:spcPct val="0"/>
              </a:spcBef>
            </a:pPr>
          </a:p>
        </p:txBody>
      </p:sp>
      <p:sp>
        <p:nvSpPr>
          <p:cNvPr name="TextBox 62" id="62"/>
          <p:cNvSpPr txBox="true"/>
          <p:nvPr/>
        </p:nvSpPr>
        <p:spPr>
          <a:xfrm rot="0">
            <a:off x="14697151" y="5309703"/>
            <a:ext cx="2335882" cy="621030"/>
          </a:xfrm>
          <a:prstGeom prst="rect">
            <a:avLst/>
          </a:prstGeom>
        </p:spPr>
        <p:txBody>
          <a:bodyPr anchor="t" rtlCol="false" tIns="0" lIns="0" bIns="0" rIns="0">
            <a:spAutoFit/>
          </a:bodyPr>
          <a:lstStyle/>
          <a:p>
            <a:pPr algn="ctr">
              <a:lnSpc>
                <a:spcPts val="2520"/>
              </a:lnSpc>
            </a:pPr>
            <a:r>
              <a:rPr lang="en-US" sz="1800" b="true">
                <a:solidFill>
                  <a:srgbClr val="000000"/>
                </a:solidFill>
                <a:latin typeface="Proxima Nova Bold"/>
                <a:ea typeface="Proxima Nova Bold"/>
                <a:cs typeface="Proxima Nova Bold"/>
                <a:sym typeface="Proxima Nova Bold"/>
              </a:rPr>
              <a:t>Warehouse Mgr</a:t>
            </a:r>
          </a:p>
          <a:p>
            <a:pPr algn="ctr">
              <a:lnSpc>
                <a:spcPts val="2520"/>
              </a:lnSpc>
              <a:spcBef>
                <a:spcPct val="0"/>
              </a:spcBef>
            </a:pPr>
            <a:r>
              <a:rPr lang="en-US" b="true" sz="1800">
                <a:solidFill>
                  <a:srgbClr val="000000"/>
                </a:solidFill>
                <a:latin typeface="Proxima Nova Bold"/>
                <a:ea typeface="Proxima Nova Bold"/>
                <a:cs typeface="Proxima Nova Bold"/>
                <a:sym typeface="Proxima Nova Bold"/>
              </a:rPr>
              <a:t>approves / reject</a:t>
            </a:r>
          </a:p>
        </p:txBody>
      </p:sp>
      <p:sp>
        <p:nvSpPr>
          <p:cNvPr name="TextBox 63" id="63"/>
          <p:cNvSpPr txBox="true"/>
          <p:nvPr/>
        </p:nvSpPr>
        <p:spPr>
          <a:xfrm rot="0">
            <a:off x="7976059" y="6873581"/>
            <a:ext cx="2335882"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Proxima Nova Bold"/>
                <a:ea typeface="Proxima Nova Bold"/>
                <a:cs typeface="Proxima Nova Bold"/>
                <a:sym typeface="Proxima Nova Bold"/>
              </a:rPr>
              <a:t>LLM model </a:t>
            </a:r>
            <a:r>
              <a:rPr lang="en-US" b="true" sz="1800">
                <a:solidFill>
                  <a:srgbClr val="000000"/>
                </a:solidFill>
                <a:latin typeface="Proxima Nova Bold"/>
                <a:ea typeface="Proxima Nova Bold"/>
                <a:cs typeface="Proxima Nova Bold"/>
                <a:sym typeface="Proxima Nova Bold"/>
              </a:rPr>
              <a:t>is called</a:t>
            </a:r>
          </a:p>
        </p:txBody>
      </p:sp>
      <p:sp>
        <p:nvSpPr>
          <p:cNvPr name="TextBox 64" id="64"/>
          <p:cNvSpPr txBox="true"/>
          <p:nvPr/>
        </p:nvSpPr>
        <p:spPr>
          <a:xfrm rot="0">
            <a:off x="8051207" y="8359804"/>
            <a:ext cx="2249146"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304F86"/>
                </a:solidFill>
                <a:latin typeface="Proxima Nova Bold"/>
                <a:ea typeface="Proxima Nova Bold"/>
                <a:cs typeface="Proxima Nova Bold"/>
                <a:sym typeface="Proxima Nova Bold"/>
              </a:rPr>
              <a:t>03</a:t>
            </a:r>
          </a:p>
        </p:txBody>
      </p:sp>
      <p:sp>
        <p:nvSpPr>
          <p:cNvPr name="TextBox 65" id="65"/>
          <p:cNvSpPr txBox="true"/>
          <p:nvPr/>
        </p:nvSpPr>
        <p:spPr>
          <a:xfrm rot="0">
            <a:off x="11395863" y="8115283"/>
            <a:ext cx="2249146"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304F86"/>
                </a:solidFill>
                <a:latin typeface="Proxima Nova Bold"/>
                <a:ea typeface="Proxima Nova Bold"/>
                <a:cs typeface="Proxima Nova Bold"/>
                <a:sym typeface="Proxima Nova Bold"/>
              </a:rPr>
              <a:t>04</a:t>
            </a:r>
          </a:p>
        </p:txBody>
      </p:sp>
      <p:sp>
        <p:nvSpPr>
          <p:cNvPr name="TextBox 66" id="66"/>
          <p:cNvSpPr txBox="true"/>
          <p:nvPr/>
        </p:nvSpPr>
        <p:spPr>
          <a:xfrm rot="0">
            <a:off x="14740519" y="7139822"/>
            <a:ext cx="2249146"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2F447F"/>
                </a:solidFill>
                <a:latin typeface="Proxima Nova Bold"/>
                <a:ea typeface="Proxima Nova Bold"/>
                <a:cs typeface="Proxima Nova Bold"/>
                <a:sym typeface="Proxima Nova Bold"/>
              </a:rPr>
              <a:t>05</a:t>
            </a:r>
          </a:p>
        </p:txBody>
      </p:sp>
      <p:sp>
        <p:nvSpPr>
          <p:cNvPr name="TextBox 67" id="67"/>
          <p:cNvSpPr txBox="true"/>
          <p:nvPr/>
        </p:nvSpPr>
        <p:spPr>
          <a:xfrm rot="0">
            <a:off x="371843" y="1815548"/>
            <a:ext cx="12148593" cy="746722"/>
          </a:xfrm>
          <a:prstGeom prst="rect">
            <a:avLst/>
          </a:prstGeom>
        </p:spPr>
        <p:txBody>
          <a:bodyPr anchor="t" rtlCol="false" tIns="0" lIns="0" bIns="0" rIns="0">
            <a:spAutoFit/>
          </a:bodyPr>
          <a:lstStyle/>
          <a:p>
            <a:pPr algn="just">
              <a:lnSpc>
                <a:spcPts val="6092"/>
              </a:lnSpc>
            </a:pPr>
            <a:r>
              <a:rPr lang="en-US" b="true" sz="4351">
                <a:solidFill>
                  <a:srgbClr val="000000"/>
                </a:solidFill>
                <a:latin typeface="Roboto Bold"/>
                <a:ea typeface="Roboto Bold"/>
                <a:cs typeface="Roboto Bold"/>
                <a:sym typeface="Roboto Bold"/>
              </a:rPr>
              <a:t>SMART WORKFLOW – QUALITY INSPECTION</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Freeform 6" id="6"/>
          <p:cNvSpPr/>
          <p:nvPr/>
        </p:nvSpPr>
        <p:spPr>
          <a:xfrm flipH="false" flipV="false" rot="0">
            <a:off x="1028700" y="2091708"/>
            <a:ext cx="8367644" cy="3242462"/>
          </a:xfrm>
          <a:custGeom>
            <a:avLst/>
            <a:gdLst/>
            <a:ahLst/>
            <a:cxnLst/>
            <a:rect r="r" b="b" t="t" l="l"/>
            <a:pathLst>
              <a:path h="3242462" w="8367644">
                <a:moveTo>
                  <a:pt x="0" y="0"/>
                </a:moveTo>
                <a:lnTo>
                  <a:pt x="8367644" y="0"/>
                </a:lnTo>
                <a:lnTo>
                  <a:pt x="8367644" y="3242462"/>
                </a:lnTo>
                <a:lnTo>
                  <a:pt x="0" y="3242462"/>
                </a:lnTo>
                <a:lnTo>
                  <a:pt x="0" y="0"/>
                </a:lnTo>
                <a:close/>
              </a:path>
            </a:pathLst>
          </a:custGeom>
          <a:blipFill>
            <a:blip r:embed="rId5"/>
            <a:stretch>
              <a:fillRect l="0" t="0" r="0" b="0"/>
            </a:stretch>
          </a:blipFill>
        </p:spPr>
      </p:sp>
      <p:sp>
        <p:nvSpPr>
          <p:cNvPr name="Freeform 7" id="7"/>
          <p:cNvSpPr/>
          <p:nvPr/>
        </p:nvSpPr>
        <p:spPr>
          <a:xfrm flipH="false" flipV="false" rot="0">
            <a:off x="11302658" y="3712939"/>
            <a:ext cx="5956642" cy="4802543"/>
          </a:xfrm>
          <a:custGeom>
            <a:avLst/>
            <a:gdLst/>
            <a:ahLst/>
            <a:cxnLst/>
            <a:rect r="r" b="b" t="t" l="l"/>
            <a:pathLst>
              <a:path h="4802543" w="5956642">
                <a:moveTo>
                  <a:pt x="0" y="0"/>
                </a:moveTo>
                <a:lnTo>
                  <a:pt x="5956642" y="0"/>
                </a:lnTo>
                <a:lnTo>
                  <a:pt x="5956642" y="4802543"/>
                </a:lnTo>
                <a:lnTo>
                  <a:pt x="0" y="4802543"/>
                </a:lnTo>
                <a:lnTo>
                  <a:pt x="0" y="0"/>
                </a:lnTo>
                <a:close/>
              </a:path>
            </a:pathLst>
          </a:custGeom>
          <a:blipFill>
            <a:blip r:embed="rId6"/>
            <a:stretch>
              <a:fillRect l="0" t="0" r="0" b="0"/>
            </a:stretch>
          </a:blipFill>
        </p:spPr>
      </p:sp>
      <p:sp>
        <p:nvSpPr>
          <p:cNvPr name="Freeform 8" id="8"/>
          <p:cNvSpPr/>
          <p:nvPr/>
        </p:nvSpPr>
        <p:spPr>
          <a:xfrm flipH="false" flipV="false" rot="0">
            <a:off x="834440" y="9018148"/>
            <a:ext cx="11301259" cy="480304"/>
          </a:xfrm>
          <a:custGeom>
            <a:avLst/>
            <a:gdLst/>
            <a:ahLst/>
            <a:cxnLst/>
            <a:rect r="r" b="b" t="t" l="l"/>
            <a:pathLst>
              <a:path h="480304" w="11301259">
                <a:moveTo>
                  <a:pt x="0" y="0"/>
                </a:moveTo>
                <a:lnTo>
                  <a:pt x="11301259" y="0"/>
                </a:lnTo>
                <a:lnTo>
                  <a:pt x="11301259" y="480304"/>
                </a:lnTo>
                <a:lnTo>
                  <a:pt x="0" y="480304"/>
                </a:lnTo>
                <a:lnTo>
                  <a:pt x="0" y="0"/>
                </a:lnTo>
                <a:close/>
              </a:path>
            </a:pathLst>
          </a:custGeom>
          <a:blipFill>
            <a:blip r:embed="rId7"/>
            <a:stretch>
              <a:fillRect l="0" t="0" r="0" b="0"/>
            </a:stretch>
          </a:blipFill>
        </p:spPr>
      </p:sp>
      <p:sp>
        <p:nvSpPr>
          <p:cNvPr name="TextBox 9" id="9"/>
          <p:cNvSpPr txBox="true"/>
          <p:nvPr/>
        </p:nvSpPr>
        <p:spPr>
          <a:xfrm rot="0">
            <a:off x="10279124" y="1887236"/>
            <a:ext cx="7465827" cy="746722"/>
          </a:xfrm>
          <a:prstGeom prst="rect">
            <a:avLst/>
          </a:prstGeom>
        </p:spPr>
        <p:txBody>
          <a:bodyPr anchor="t" rtlCol="false" tIns="0" lIns="0" bIns="0" rIns="0">
            <a:spAutoFit/>
          </a:bodyPr>
          <a:lstStyle/>
          <a:p>
            <a:pPr algn="just">
              <a:lnSpc>
                <a:spcPts val="6092"/>
              </a:lnSpc>
            </a:pPr>
            <a:r>
              <a:rPr lang="en-US" b="true" sz="4351">
                <a:solidFill>
                  <a:srgbClr val="000000"/>
                </a:solidFill>
                <a:latin typeface="Roboto Bold"/>
                <a:ea typeface="Roboto Bold"/>
                <a:cs typeface="Roboto Bold"/>
                <a:sym typeface="Roboto Bold"/>
              </a:rPr>
              <a:t>SAMPLE TEST</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TextBox 6" id="6"/>
          <p:cNvSpPr txBox="true"/>
          <p:nvPr/>
        </p:nvSpPr>
        <p:spPr>
          <a:xfrm rot="0">
            <a:off x="562828" y="2217735"/>
            <a:ext cx="7465827" cy="746722"/>
          </a:xfrm>
          <a:prstGeom prst="rect">
            <a:avLst/>
          </a:prstGeom>
        </p:spPr>
        <p:txBody>
          <a:bodyPr anchor="t" rtlCol="false" tIns="0" lIns="0" bIns="0" rIns="0">
            <a:spAutoFit/>
          </a:bodyPr>
          <a:lstStyle/>
          <a:p>
            <a:pPr algn="just">
              <a:lnSpc>
                <a:spcPts val="6092"/>
              </a:lnSpc>
            </a:pPr>
            <a:r>
              <a:rPr lang="en-US" b="true" sz="4351">
                <a:solidFill>
                  <a:srgbClr val="004AAD"/>
                </a:solidFill>
                <a:latin typeface="Roboto Bold"/>
                <a:ea typeface="Roboto Bold"/>
                <a:cs typeface="Roboto Bold"/>
                <a:sym typeface="Roboto Bold"/>
              </a:rPr>
              <a:t>CONCLUSION</a:t>
            </a:r>
          </a:p>
        </p:txBody>
      </p:sp>
      <p:sp>
        <p:nvSpPr>
          <p:cNvPr name="TextBox 7" id="7"/>
          <p:cNvSpPr txBox="true"/>
          <p:nvPr/>
        </p:nvSpPr>
        <p:spPr>
          <a:xfrm rot="0">
            <a:off x="1028700" y="3259732"/>
            <a:ext cx="13491315" cy="4154426"/>
          </a:xfrm>
          <a:prstGeom prst="rect">
            <a:avLst/>
          </a:prstGeom>
        </p:spPr>
        <p:txBody>
          <a:bodyPr anchor="t" rtlCol="false" tIns="0" lIns="0" bIns="0" rIns="0">
            <a:spAutoFit/>
          </a:bodyPr>
          <a:lstStyle/>
          <a:p>
            <a:pPr algn="l" marL="518157" indent="-259078" lvl="1">
              <a:lnSpc>
                <a:spcPts val="5567"/>
              </a:lnSpc>
              <a:spcBef>
                <a:spcPct val="0"/>
              </a:spcBef>
              <a:buFont typeface="Arial"/>
              <a:buChar char="•"/>
            </a:pPr>
            <a:r>
              <a:rPr lang="en-US" sz="2399" strike="noStrike" u="none">
                <a:solidFill>
                  <a:srgbClr val="000000"/>
                </a:solidFill>
                <a:latin typeface="Roboto"/>
                <a:ea typeface="Roboto"/>
                <a:cs typeface="Roboto"/>
                <a:sym typeface="Roboto"/>
              </a:rPr>
              <a:t>Successfully bridged the Decision Gap between field operations and executive management.</a:t>
            </a:r>
          </a:p>
          <a:p>
            <a:pPr algn="l" marL="518157" indent="-259078" lvl="1">
              <a:lnSpc>
                <a:spcPts val="5567"/>
              </a:lnSpc>
              <a:spcBef>
                <a:spcPct val="0"/>
              </a:spcBef>
              <a:buFont typeface="Arial"/>
              <a:buChar char="•"/>
            </a:pPr>
            <a:r>
              <a:rPr lang="en-US" sz="2399" strike="noStrike" u="none">
                <a:solidFill>
                  <a:srgbClr val="000000"/>
                </a:solidFill>
                <a:latin typeface="Roboto"/>
                <a:ea typeface="Roboto"/>
                <a:cs typeface="Roboto"/>
                <a:sym typeface="Roboto"/>
              </a:rPr>
              <a:t>Developed a Modular Cloud Architecture (OLTP/DWH) ensuring zero latency and enterprise scalability.</a:t>
            </a:r>
          </a:p>
          <a:p>
            <a:pPr algn="l" marL="518157" indent="-259078" lvl="1">
              <a:lnSpc>
                <a:spcPts val="5567"/>
              </a:lnSpc>
              <a:spcBef>
                <a:spcPct val="0"/>
              </a:spcBef>
              <a:buFont typeface="Arial"/>
              <a:buChar char="•"/>
            </a:pPr>
            <a:r>
              <a:rPr lang="en-US" sz="2399" strike="noStrike" u="none">
                <a:solidFill>
                  <a:srgbClr val="000000"/>
                </a:solidFill>
                <a:latin typeface="Roboto"/>
                <a:ea typeface="Roboto"/>
                <a:cs typeface="Roboto"/>
                <a:sym typeface="Roboto"/>
              </a:rPr>
              <a:t>Proved the power of Agentic AI in turning reactive data into proactive commercial mitigation.</a:t>
            </a:r>
          </a:p>
          <a:p>
            <a:pPr algn="l" marL="518157" indent="-259078" lvl="1">
              <a:lnSpc>
                <a:spcPts val="5567"/>
              </a:lnSpc>
              <a:spcBef>
                <a:spcPct val="0"/>
              </a:spcBef>
              <a:buFont typeface="Arial"/>
              <a:buChar char="•"/>
            </a:pPr>
            <a:r>
              <a:rPr lang="en-US" sz="2399" strike="noStrike" u="none">
                <a:solidFill>
                  <a:srgbClr val="000000"/>
                </a:solidFill>
                <a:latin typeface="Roboto"/>
                <a:ea typeface="Roboto"/>
                <a:cs typeface="Roboto"/>
                <a:sym typeface="Roboto"/>
              </a:rPr>
              <a:t>Delivered measurable Business Value by reducing operational waste and fleet blindness.</a:t>
            </a:r>
          </a:p>
          <a:p>
            <a:pPr algn="l">
              <a:lnSpc>
                <a:spcPts val="5567"/>
              </a:lnSpc>
              <a:spcBef>
                <a:spcPct val="0"/>
              </a:spcBef>
            </a:pP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0" y="1699224"/>
            <a:ext cx="18288000" cy="19050"/>
          </a:xfrm>
          <a:prstGeom prst="line">
            <a:avLst/>
          </a:prstGeom>
          <a:ln cap="flat" w="38100">
            <a:solidFill>
              <a:srgbClr val="B3B2CB"/>
            </a:solidFill>
            <a:prstDash val="solid"/>
            <a:headEnd type="none" len="sm" w="sm"/>
            <a:tailEnd type="none" len="sm" w="sm"/>
          </a:ln>
        </p:spPr>
      </p:sp>
      <p:sp>
        <p:nvSpPr>
          <p:cNvPr name="Freeform 4" id="4"/>
          <p:cNvSpPr/>
          <p:nvPr/>
        </p:nvSpPr>
        <p:spPr>
          <a:xfrm flipH="false" flipV="false" rot="0">
            <a:off x="15069448" y="-131585"/>
            <a:ext cx="3684041" cy="1849859"/>
          </a:xfrm>
          <a:custGeom>
            <a:avLst/>
            <a:gdLst/>
            <a:ahLst/>
            <a:cxnLst/>
            <a:rect r="r" b="b" t="t" l="l"/>
            <a:pathLst>
              <a:path h="1849859" w="3684041">
                <a:moveTo>
                  <a:pt x="0" y="0"/>
                </a:moveTo>
                <a:lnTo>
                  <a:pt x="3684041" y="0"/>
                </a:lnTo>
                <a:lnTo>
                  <a:pt x="3684041" y="1849859"/>
                </a:lnTo>
                <a:lnTo>
                  <a:pt x="0" y="1849859"/>
                </a:lnTo>
                <a:lnTo>
                  <a:pt x="0" y="0"/>
                </a:lnTo>
                <a:close/>
              </a:path>
            </a:pathLst>
          </a:custGeom>
          <a:blipFill>
            <a:blip r:embed="rId3"/>
            <a:stretch>
              <a:fillRect l="0" t="0" r="0" b="0"/>
            </a:stretch>
          </a:blipFill>
        </p:spPr>
      </p:sp>
      <p:sp>
        <p:nvSpPr>
          <p:cNvPr name="Freeform 5" id="5"/>
          <p:cNvSpPr/>
          <p:nvPr/>
        </p:nvSpPr>
        <p:spPr>
          <a:xfrm flipH="false" flipV="false" rot="0">
            <a:off x="-416107" y="0"/>
            <a:ext cx="3951611" cy="2303460"/>
          </a:xfrm>
          <a:custGeom>
            <a:avLst/>
            <a:gdLst/>
            <a:ahLst/>
            <a:cxnLst/>
            <a:rect r="r" b="b" t="t" l="l"/>
            <a:pathLst>
              <a:path h="2303460" w="3951611">
                <a:moveTo>
                  <a:pt x="0" y="0"/>
                </a:moveTo>
                <a:lnTo>
                  <a:pt x="3951611" y="0"/>
                </a:lnTo>
                <a:lnTo>
                  <a:pt x="3951611" y="2303460"/>
                </a:lnTo>
                <a:lnTo>
                  <a:pt x="0" y="2303460"/>
                </a:lnTo>
                <a:lnTo>
                  <a:pt x="0" y="0"/>
                </a:lnTo>
                <a:close/>
              </a:path>
            </a:pathLst>
          </a:custGeom>
          <a:blipFill>
            <a:blip r:embed="rId4"/>
            <a:stretch>
              <a:fillRect l="0" t="0" r="0" b="0"/>
            </a:stretch>
          </a:blipFill>
        </p:spPr>
      </p:sp>
      <p:sp>
        <p:nvSpPr>
          <p:cNvPr name="TextBox 6" id="6"/>
          <p:cNvSpPr txBox="true"/>
          <p:nvPr/>
        </p:nvSpPr>
        <p:spPr>
          <a:xfrm rot="0">
            <a:off x="562828" y="2217735"/>
            <a:ext cx="7465827" cy="746722"/>
          </a:xfrm>
          <a:prstGeom prst="rect">
            <a:avLst/>
          </a:prstGeom>
        </p:spPr>
        <p:txBody>
          <a:bodyPr anchor="t" rtlCol="false" tIns="0" lIns="0" bIns="0" rIns="0">
            <a:spAutoFit/>
          </a:bodyPr>
          <a:lstStyle/>
          <a:p>
            <a:pPr algn="just">
              <a:lnSpc>
                <a:spcPts val="6092"/>
              </a:lnSpc>
            </a:pPr>
            <a:r>
              <a:rPr lang="en-US" b="true" sz="4351">
                <a:solidFill>
                  <a:srgbClr val="004AAD"/>
                </a:solidFill>
                <a:latin typeface="Roboto Bold"/>
                <a:ea typeface="Roboto Bold"/>
                <a:cs typeface="Roboto Bold"/>
                <a:sym typeface="Roboto Bold"/>
              </a:rPr>
              <a:t>FUTURE WORK</a:t>
            </a:r>
          </a:p>
        </p:txBody>
      </p:sp>
      <p:sp>
        <p:nvSpPr>
          <p:cNvPr name="TextBox 7" id="7"/>
          <p:cNvSpPr txBox="true"/>
          <p:nvPr/>
        </p:nvSpPr>
        <p:spPr>
          <a:xfrm rot="0">
            <a:off x="1028700" y="3259732"/>
            <a:ext cx="14040748" cy="4859276"/>
          </a:xfrm>
          <a:prstGeom prst="rect">
            <a:avLst/>
          </a:prstGeom>
        </p:spPr>
        <p:txBody>
          <a:bodyPr anchor="t" rtlCol="false" tIns="0" lIns="0" bIns="0" rIns="0">
            <a:spAutoFit/>
          </a:bodyPr>
          <a:lstStyle/>
          <a:p>
            <a:pPr algn="l" marL="518157" indent="-259078" lvl="1">
              <a:lnSpc>
                <a:spcPts val="5567"/>
              </a:lnSpc>
              <a:buFont typeface="Arial"/>
              <a:buChar char="•"/>
            </a:pPr>
            <a:r>
              <a:rPr lang="en-US" sz="2399">
                <a:solidFill>
                  <a:srgbClr val="000000"/>
                </a:solidFill>
                <a:latin typeface="Roboto"/>
                <a:ea typeface="Roboto"/>
                <a:cs typeface="Roboto"/>
                <a:sym typeface="Roboto"/>
              </a:rPr>
              <a:t>Hardware Integration: Transition from simulation to physical IoT sensors (Fuel probes, GPS, Vibration).</a:t>
            </a:r>
          </a:p>
          <a:p>
            <a:pPr algn="l" marL="518157" indent="-259078" lvl="1">
              <a:lnSpc>
                <a:spcPts val="5567"/>
              </a:lnSpc>
              <a:buFont typeface="Arial"/>
              <a:buChar char="•"/>
            </a:pPr>
            <a:r>
              <a:rPr lang="en-US" sz="2399">
                <a:solidFill>
                  <a:srgbClr val="000000"/>
                </a:solidFill>
                <a:latin typeface="Roboto"/>
                <a:ea typeface="Roboto"/>
                <a:cs typeface="Roboto"/>
                <a:sym typeface="Roboto"/>
              </a:rPr>
              <a:t>Prescriptive Logistics: Moving from "Recommendations" to Autonomous Procurement based on AI logic.</a:t>
            </a:r>
          </a:p>
          <a:p>
            <a:pPr algn="l" marL="518157" indent="-259078" lvl="1">
              <a:lnSpc>
                <a:spcPts val="5567"/>
              </a:lnSpc>
              <a:buFont typeface="Arial"/>
              <a:buChar char="•"/>
            </a:pPr>
            <a:r>
              <a:rPr lang="en-US" sz="2399">
                <a:solidFill>
                  <a:srgbClr val="000000"/>
                </a:solidFill>
                <a:latin typeface="Roboto"/>
                <a:ea typeface="Roboto"/>
                <a:cs typeface="Roboto"/>
                <a:sym typeface="Roboto"/>
              </a:rPr>
              <a:t>Blockchain Traceability: Securing the Vendor-to-Customer loop with an immutable ledger for product origins.</a:t>
            </a:r>
          </a:p>
          <a:p>
            <a:pPr algn="l" marL="518157" indent="-259078" lvl="1">
              <a:lnSpc>
                <a:spcPts val="5567"/>
              </a:lnSpc>
              <a:buFont typeface="Arial"/>
              <a:buChar char="•"/>
            </a:pPr>
            <a:r>
              <a:rPr lang="en-US" sz="2399">
                <a:solidFill>
                  <a:srgbClr val="000000"/>
                </a:solidFill>
                <a:latin typeface="Roboto"/>
                <a:ea typeface="Roboto"/>
                <a:cs typeface="Roboto"/>
                <a:sym typeface="Roboto"/>
              </a:rPr>
              <a:t>Mobile Deployment: Expanding Power Apps to native iOS/Android for full-scale global field mobility.</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616825" y="6705600"/>
            <a:ext cx="3054350" cy="761278"/>
            <a:chOff x="0" y="0"/>
            <a:chExt cx="804438" cy="200501"/>
          </a:xfrm>
        </p:grpSpPr>
        <p:sp>
          <p:nvSpPr>
            <p:cNvPr name="Freeform 10" id="10"/>
            <p:cNvSpPr/>
            <p:nvPr/>
          </p:nvSpPr>
          <p:spPr>
            <a:xfrm flipH="false" flipV="false" rot="0">
              <a:off x="0" y="0"/>
              <a:ext cx="804438" cy="200501"/>
            </a:xfrm>
            <a:custGeom>
              <a:avLst/>
              <a:gdLst/>
              <a:ahLst/>
              <a:cxnLst/>
              <a:rect r="r" b="b" t="t" l="l"/>
              <a:pathLst>
                <a:path h="200501" w="804438">
                  <a:moveTo>
                    <a:pt x="100251" y="0"/>
                  </a:moveTo>
                  <a:lnTo>
                    <a:pt x="704187" y="0"/>
                  </a:lnTo>
                  <a:cubicBezTo>
                    <a:pt x="730775" y="0"/>
                    <a:pt x="756275" y="10562"/>
                    <a:pt x="775075" y="29363"/>
                  </a:cubicBezTo>
                  <a:cubicBezTo>
                    <a:pt x="793876" y="48163"/>
                    <a:pt x="804438" y="73662"/>
                    <a:pt x="804438" y="100251"/>
                  </a:cubicBezTo>
                  <a:lnTo>
                    <a:pt x="804438" y="100251"/>
                  </a:lnTo>
                  <a:cubicBezTo>
                    <a:pt x="804438" y="155617"/>
                    <a:pt x="759554" y="200501"/>
                    <a:pt x="704187" y="200501"/>
                  </a:cubicBezTo>
                  <a:lnTo>
                    <a:pt x="100251" y="200501"/>
                  </a:lnTo>
                  <a:cubicBezTo>
                    <a:pt x="44884" y="200501"/>
                    <a:pt x="0" y="155617"/>
                    <a:pt x="0" y="100251"/>
                  </a:cubicBezTo>
                  <a:lnTo>
                    <a:pt x="0" y="100251"/>
                  </a:lnTo>
                  <a:cubicBezTo>
                    <a:pt x="0" y="44884"/>
                    <a:pt x="44884" y="0"/>
                    <a:pt x="100251" y="0"/>
                  </a:cubicBezTo>
                  <a:close/>
                </a:path>
              </a:pathLst>
            </a:custGeom>
            <a:solidFill>
              <a:srgbClr val="004AAD"/>
            </a:solidFill>
          </p:spPr>
        </p:sp>
        <p:sp>
          <p:nvSpPr>
            <p:cNvPr name="TextBox 11" id="11"/>
            <p:cNvSpPr txBox="true"/>
            <p:nvPr/>
          </p:nvSpPr>
          <p:spPr>
            <a:xfrm>
              <a:off x="0" y="-47625"/>
              <a:ext cx="804438" cy="248126"/>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5674689" y="8107888"/>
            <a:ext cx="873164" cy="873164"/>
          </a:xfrm>
          <a:custGeom>
            <a:avLst/>
            <a:gdLst/>
            <a:ahLst/>
            <a:cxnLst/>
            <a:rect r="r" b="b" t="t" l="l"/>
            <a:pathLst>
              <a:path h="873164" w="873164">
                <a:moveTo>
                  <a:pt x="0" y="0"/>
                </a:moveTo>
                <a:lnTo>
                  <a:pt x="873163" y="0"/>
                </a:lnTo>
                <a:lnTo>
                  <a:pt x="873163" y="873164"/>
                </a:lnTo>
                <a:lnTo>
                  <a:pt x="0" y="8731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p:txBody>
      </p:sp>
      <p:sp>
        <p:nvSpPr>
          <p:cNvPr name="TextBox 14" id="14"/>
          <p:cNvSpPr txBox="true"/>
          <p:nvPr/>
        </p:nvSpPr>
        <p:spPr>
          <a:xfrm rot="0">
            <a:off x="7347826" y="6846823"/>
            <a:ext cx="3592349" cy="535981"/>
          </a:xfrm>
          <a:prstGeom prst="rect">
            <a:avLst/>
          </a:prstGeom>
        </p:spPr>
        <p:txBody>
          <a:bodyPr anchor="t" rtlCol="false" tIns="0" lIns="0" bIns="0" rIns="0">
            <a:spAutoFit/>
          </a:bodyPr>
          <a:lstStyle/>
          <a:p>
            <a:pPr algn="ctr">
              <a:lnSpc>
                <a:spcPts val="4408"/>
              </a:lnSpc>
            </a:pPr>
            <a:r>
              <a:rPr lang="en-US" sz="3148">
                <a:solidFill>
                  <a:srgbClr val="FFFFFF"/>
                </a:solidFill>
                <a:latin typeface="League Spartan"/>
                <a:ea typeface="League Spartan"/>
                <a:cs typeface="League Spartan"/>
                <a:sym typeface="League Spartan"/>
              </a:rPr>
              <a:t>VISIT US</a:t>
            </a:r>
          </a:p>
        </p:txBody>
      </p:sp>
      <p:sp>
        <p:nvSpPr>
          <p:cNvPr name="TextBox 15" id="15"/>
          <p:cNvSpPr txBox="true"/>
          <p:nvPr/>
        </p:nvSpPr>
        <p:spPr>
          <a:xfrm rot="0">
            <a:off x="6956768" y="8219866"/>
            <a:ext cx="6784632" cy="573007"/>
          </a:xfrm>
          <a:prstGeom prst="rect">
            <a:avLst/>
          </a:prstGeom>
        </p:spPr>
        <p:txBody>
          <a:bodyPr anchor="t" rtlCol="false" tIns="0" lIns="0" bIns="0" rIns="0">
            <a:spAutoFit/>
          </a:bodyPr>
          <a:lstStyle/>
          <a:p>
            <a:pPr algn="l">
              <a:lnSpc>
                <a:spcPts val="4641"/>
              </a:lnSpc>
            </a:pPr>
            <a:r>
              <a:rPr lang="en-US" b="true" sz="3315" u="sng">
                <a:solidFill>
                  <a:srgbClr val="004AAD"/>
                </a:solidFill>
                <a:latin typeface="Roboto Bold"/>
                <a:ea typeface="Roboto Bold"/>
                <a:cs typeface="Roboto Bold"/>
                <a:sym typeface="Roboto Bold"/>
                <a:hlinkClick r:id="rId5" tooltip="https://logi-insight-360-4cpc.vercel.app"/>
              </a:rPr>
              <a:t>www.log-insight-360.com</a:t>
            </a:r>
          </a:p>
        </p:txBody>
      </p:sp>
    </p:spTree>
  </p:cSld>
  <p:clrMapOvr>
    <a:masterClrMapping/>
  </p:clrMapOvr>
</p:sld>
</file>

<file path=ppt/slides/slide7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DAHL1lLFGZQ</dc:identifier>
  <dcterms:modified xsi:type="dcterms:W3CDTF">2011-08-01T06:04:30Z</dcterms:modified>
  <cp:revision>1</cp:revision>
  <dc:title>LOGIINSIGHT 360 - ITI Graduation Project</dc:title>
</cp:coreProperties>
</file>